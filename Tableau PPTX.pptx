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6" r:id="rId41"/>
    <p:sldId id="300" r:id="rId42"/>
    <p:sldId id="297" r:id="rId43"/>
    <p:sldId id="298" r:id="rId44"/>
    <p:sldId id="293" r:id="rId45"/>
    <p:sldId id="299" r:id="rId46"/>
    <p:sldId id="301" r:id="rId47"/>
    <p:sldId id="310" r:id="rId48"/>
    <p:sldId id="302" r:id="rId49"/>
    <p:sldId id="303" r:id="rId50"/>
    <p:sldId id="311" r:id="rId51"/>
    <p:sldId id="304" r:id="rId52"/>
    <p:sldId id="312" r:id="rId53"/>
    <p:sldId id="305" r:id="rId54"/>
    <p:sldId id="306" r:id="rId55"/>
    <p:sldId id="307" r:id="rId56"/>
    <p:sldId id="308" r:id="rId57"/>
    <p:sldId id="309" r:id="rId58"/>
    <p:sldId id="320" r:id="rId59"/>
    <p:sldId id="313" r:id="rId60"/>
    <p:sldId id="314" r:id="rId61"/>
    <p:sldId id="315" r:id="rId62"/>
    <p:sldId id="316" r:id="rId63"/>
    <p:sldId id="317" r:id="rId64"/>
    <p:sldId id="318" r:id="rId65"/>
    <p:sldId id="319" r:id="rId66"/>
    <p:sldId id="321" r:id="rId67"/>
    <p:sldId id="322" r:id="rId68"/>
    <p:sldId id="323" r:id="rId69"/>
    <p:sldId id="324" r:id="rId70"/>
    <p:sldId id="325" r:id="rId71"/>
    <p:sldId id="326" r:id="rId72"/>
    <p:sldId id="327" r:id="rId73"/>
    <p:sldId id="328"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Tableau</a:t>
            </a:r>
          </a:p>
        </p:txBody>
      </p:sp>
    </p:spTree>
    <p:extLst>
      <p:ext uri="{BB962C8B-B14F-4D97-AF65-F5344CB8AC3E}">
        <p14:creationId xmlns:p14="http://schemas.microsoft.com/office/powerpoint/2010/main" val="429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Tableau</a:t>
            </a:r>
          </a:p>
        </p:txBody>
      </p:sp>
      <p:sp>
        <p:nvSpPr>
          <p:cNvPr id="3" name="Content Placeholder 2"/>
          <p:cNvSpPr>
            <a:spLocks noGrp="1"/>
          </p:cNvSpPr>
          <p:nvPr>
            <p:ph idx="1"/>
          </p:nvPr>
        </p:nvSpPr>
        <p:spPr>
          <a:xfrm>
            <a:off x="2589212" y="2133600"/>
            <a:ext cx="7432974" cy="3777622"/>
          </a:xfrm>
        </p:spPr>
        <p:txBody>
          <a:bodyPr/>
          <a:lstStyle/>
          <a:p>
            <a:r>
              <a:rPr lang="en-US" dirty="0">
                <a:latin typeface="Times New Roman" panose="02020603050405020304" pitchFamily="18" charset="0"/>
                <a:cs typeface="Times New Roman" panose="02020603050405020304" pitchFamily="18" charset="0"/>
              </a:rPr>
              <a:t>Tableau is a powerful data visualization tool used in the field of business intelligence. It helps users create a variety of charts, graphs, maps, dashboards, and stories to make data understandable and actionable</a:t>
            </a:r>
          </a:p>
        </p:txBody>
      </p:sp>
    </p:spTree>
    <p:extLst>
      <p:ext uri="{BB962C8B-B14F-4D97-AF65-F5344CB8AC3E}">
        <p14:creationId xmlns:p14="http://schemas.microsoft.com/office/powerpoint/2010/main" val="345765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0541" y="578843"/>
            <a:ext cx="8911687" cy="1280890"/>
          </a:xfrm>
        </p:spPr>
        <p:txBody>
          <a:bodyPr/>
          <a:lstStyle/>
          <a:p>
            <a:r>
              <a:rPr lang="en-US" dirty="0">
                <a:latin typeface="Times New Roman" panose="02020603050405020304" pitchFamily="18" charset="0"/>
                <a:cs typeface="Times New Roman" panose="02020603050405020304" pitchFamily="18" charset="0"/>
              </a:rPr>
              <a:t>Here are some key features and aspects of Tableau:</a:t>
            </a:r>
          </a:p>
        </p:txBody>
      </p:sp>
      <p:sp>
        <p:nvSpPr>
          <p:cNvPr id="3" name="Content Placeholder 2"/>
          <p:cNvSpPr>
            <a:spLocks noGrp="1"/>
          </p:cNvSpPr>
          <p:nvPr>
            <p:ph idx="1"/>
          </p:nvPr>
        </p:nvSpPr>
        <p:spPr>
          <a:xfrm>
            <a:off x="1846828" y="2070226"/>
            <a:ext cx="8915400" cy="3777622"/>
          </a:xfrm>
        </p:spPr>
        <p:txBody>
          <a:bodyPr>
            <a:noAutofit/>
          </a:bodyPr>
          <a:lstStyle/>
          <a:p>
            <a:pPr>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Data Visualization: Tableau excels in converting raw data into visually appealing and interactive dashboards. Users can easily create visualizations by dragging and dropping elements onto a canvas.</a:t>
            </a:r>
          </a:p>
          <a:p>
            <a:pPr>
              <a:buFont typeface="+mj-lt"/>
              <a:buAutoNum type="arabicPeriod"/>
            </a:pPr>
            <a:endParaRPr lang="en-US" sz="16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Ease of Use: With its intuitive interface, Tableau allows users with little to no technical skills to create complex visualizations. It provides a drag-and-drop functionality that simplifies the process of data analysis.</a:t>
            </a:r>
          </a:p>
          <a:p>
            <a:pPr>
              <a:buFont typeface="+mj-lt"/>
              <a:buAutoNum type="arabicPeriod"/>
            </a:pPr>
            <a:endParaRPr lang="en-US" sz="16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Data Connectivity: Tableau can connect to a wide range of data sources, including databases (like MySQL, SQL Server, Oracle), cloud services (like Google Analytics, AWS), spreadsheets (like Excel), and many more.</a:t>
            </a:r>
          </a:p>
          <a:p>
            <a:pPr>
              <a:buFont typeface="+mj-lt"/>
              <a:buAutoNum type="arabicPeriod"/>
            </a:pPr>
            <a:endParaRPr lang="en-US" sz="16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US" sz="1600" b="1" dirty="0">
                <a:solidFill>
                  <a:schemeClr val="tx1"/>
                </a:solidFill>
                <a:latin typeface="Times New Roman" panose="02020603050405020304" pitchFamily="18" charset="0"/>
                <a:cs typeface="Times New Roman" panose="02020603050405020304" pitchFamily="18" charset="0"/>
              </a:rPr>
              <a:t>Interactive Dashboards: Tableau dashboards are highly interactive and allow users to drill down into data, filter views, and interact with visual elements for a deeper understanding of the underlying data.</a:t>
            </a:r>
          </a:p>
        </p:txBody>
      </p:sp>
    </p:spTree>
    <p:extLst>
      <p:ext uri="{BB962C8B-B14F-4D97-AF65-F5344CB8AC3E}">
        <p14:creationId xmlns:p14="http://schemas.microsoft.com/office/powerpoint/2010/main" val="2582624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7896" y="775579"/>
            <a:ext cx="8915400" cy="3777622"/>
          </a:xfrm>
        </p:spPr>
        <p:txBody>
          <a:bodyPr>
            <a:noAutofit/>
          </a:bodyPr>
          <a:lstStyle/>
          <a:p>
            <a:r>
              <a:rPr lang="en-US" sz="1600" b="1" dirty="0">
                <a:latin typeface="Times New Roman" panose="02020603050405020304" pitchFamily="18" charset="0"/>
                <a:cs typeface="Times New Roman" panose="02020603050405020304" pitchFamily="18" charset="0"/>
              </a:rPr>
              <a:t> Real-time Data: Tableau can handle real-time data feeds, making it useful for dynamic data analysis and monitoring key performance indicators (KPIs) in real-time.</a:t>
            </a: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Advanced Analytics: It supports advanced analytics with features such as trend lines, forecasting, and statistical analysis. Users can also integrate Tableau with programming languages like R and Python for more complex data analysis.</a:t>
            </a: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Collaboration and Sharing: Tableau provides tools for sharing visualizations and dashboards with others. Tableau Server and Tableau Online allow users to publish dashboards to a central location where others can access and interact with them.</a:t>
            </a: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Customization: Users can customize the look and feel of their visualizations to align with their brand or specific needs. This includes adjusting colors, fonts, and layout.</a:t>
            </a: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Scalability: Tableau can handle large datasets and complex data models, making it suitable for organizations of all sizes, from small businesses to large enterprises.</a:t>
            </a:r>
          </a:p>
          <a:p>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12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Tableau </a:t>
            </a:r>
            <a:r>
              <a:rPr lang="en-US" dirty="0" err="1">
                <a:latin typeface="Times New Roman" panose="02020603050405020304" pitchFamily="18" charset="0"/>
                <a:cs typeface="Times New Roman" panose="02020603050405020304" pitchFamily="18" charset="0"/>
              </a:rPr>
              <a:t>vs</a:t>
            </a:r>
            <a:r>
              <a:rPr lang="en-US" dirty="0">
                <a:latin typeface="Times New Roman" panose="02020603050405020304" pitchFamily="18" charset="0"/>
                <a:cs typeface="Times New Roman" panose="02020603050405020304" pitchFamily="18" charset="0"/>
              </a:rPr>
              <a:t> Excel</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Tableau and Excel are both powerful tools used for data analysis and visualization, but they serve different purposes and have distinct features. Here’s a comparison highlighting their key differences:</a:t>
            </a:r>
          </a:p>
        </p:txBody>
      </p:sp>
    </p:spTree>
    <p:extLst>
      <p:ext uri="{BB962C8B-B14F-4D97-AF65-F5344CB8AC3E}">
        <p14:creationId xmlns:p14="http://schemas.microsoft.com/office/powerpoint/2010/main" val="426110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Purpose and Use Cases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Excel: Primarily a spreadsheet application used for data entry, manipulation, and basic analysis. It is widely used for financial modeling, budgeting, and simple data visualizations.</a:t>
            </a:r>
          </a:p>
          <a:p>
            <a:r>
              <a:rPr lang="en-US" dirty="0">
                <a:latin typeface="Times New Roman" panose="02020603050405020304" pitchFamily="18" charset="0"/>
                <a:cs typeface="Times New Roman" panose="02020603050405020304" pitchFamily="18" charset="0"/>
              </a:rPr>
              <a:t>Tableau: A specialized data visualization and business intelligence tool designed for creating interactive and complex visualizations. It excels at transforming large datasets into actionable</a:t>
            </a:r>
          </a:p>
        </p:txBody>
      </p:sp>
    </p:spTree>
    <p:extLst>
      <p:ext uri="{BB962C8B-B14F-4D97-AF65-F5344CB8AC3E}">
        <p14:creationId xmlns:p14="http://schemas.microsoft.com/office/powerpoint/2010/main" val="72175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8099" y="307818"/>
            <a:ext cx="9286513" cy="5603404"/>
          </a:xfrm>
        </p:spPr>
        <p:txBody>
          <a:bodyPr/>
          <a:lstStyle/>
          <a:p>
            <a:r>
              <a:rPr lang="en-US" b="1" dirty="0">
                <a:latin typeface="Times New Roman" panose="02020603050405020304" pitchFamily="18" charset="0"/>
                <a:cs typeface="Times New Roman" panose="02020603050405020304" pitchFamily="18" charset="0"/>
              </a:rPr>
              <a:t>Data Visualization</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Offers basic charting capabilities such as bar charts, line charts, pie charts, and scatter plots. Customization options are available, but they are more limited compared to specialized tools.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Provides advanced and highly interactive visualizations including heat maps, tree maps, geographic maps, and dashboards. It supports more complex visual representations and interactive features.</a:t>
            </a:r>
          </a:p>
          <a:p>
            <a:r>
              <a:rPr lang="en-US" b="1" dirty="0">
                <a:latin typeface="Times New Roman" panose="02020603050405020304" pitchFamily="18" charset="0"/>
                <a:cs typeface="Times New Roman" panose="02020603050405020304" pitchFamily="18" charset="0"/>
              </a:rPr>
              <a:t>Data Handling</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Handles data within individual spreadsheets and can manage moderately sized datasets. Performance can degrade with very large datasets.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Designed to handle large and complex datasets efficiently. It can connect to various data sources simultaneously and process large volumes of data without significant performance issues.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6272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6618" y="760491"/>
            <a:ext cx="9096390" cy="5712046"/>
          </a:xfrm>
        </p:spPr>
        <p:txBody>
          <a:bodyPr/>
          <a:lstStyle/>
          <a:p>
            <a:r>
              <a:rPr lang="en-US" b="1" dirty="0">
                <a:latin typeface="Times New Roman" panose="02020603050405020304" pitchFamily="18" charset="0"/>
                <a:cs typeface="Times New Roman" panose="02020603050405020304" pitchFamily="18" charset="0"/>
              </a:rPr>
              <a:t>Data Connectivity</a:t>
            </a:r>
          </a:p>
          <a:p>
            <a:r>
              <a:rPr lang="en-US" dirty="0">
                <a:latin typeface="Times New Roman" panose="02020603050405020304" pitchFamily="18" charset="0"/>
                <a:cs typeface="Times New Roman" panose="02020603050405020304" pitchFamily="18" charset="0"/>
              </a:rPr>
              <a:t>Excel: Can connect to a variety of data sources such as databases, web services, and other spreadsheets. However, the process can be less seamless compared to Tableau.</a:t>
            </a:r>
          </a:p>
          <a:p>
            <a:r>
              <a:rPr lang="en-US" dirty="0">
                <a:latin typeface="Times New Roman" panose="02020603050405020304" pitchFamily="18" charset="0"/>
                <a:cs typeface="Times New Roman" panose="02020603050405020304" pitchFamily="18" charset="0"/>
              </a:rPr>
              <a:t>Tableau: Offers robust data connectivity options. It can connect to numerous data sources including SQL databases, cloud services, big data platforms, and more. Tableau provides real-time data connectivity and integration.</a:t>
            </a:r>
          </a:p>
          <a:p>
            <a:r>
              <a:rPr lang="en-US" b="1" dirty="0">
                <a:latin typeface="Times New Roman" panose="02020603050405020304" pitchFamily="18" charset="0"/>
                <a:cs typeface="Times New Roman" panose="02020603050405020304" pitchFamily="18" charset="0"/>
              </a:rPr>
              <a:t>Usability</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Known for its ease of use for basic data tasks. Most professionals are familiar with its interface and functionalities. It is versatile for various non-visual data tasks like calculations, pivot tables, and data cleaning.</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Designed with a focus on user-friendly data visualization. Its drag-and-drop interface allows users to create complex visualizations with minimal technical skills. However, it is less suited for detailed data manipulation tasks that Excel handles well.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015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7152" y="253497"/>
            <a:ext cx="9277460" cy="5657725"/>
          </a:xfrm>
        </p:spPr>
        <p:txBody>
          <a:bodyPr/>
          <a:lstStyle/>
          <a:p>
            <a:r>
              <a:rPr lang="en-US" b="1" dirty="0">
                <a:latin typeface="Times New Roman" panose="02020603050405020304" pitchFamily="18" charset="0"/>
                <a:cs typeface="Times New Roman" panose="02020603050405020304" pitchFamily="18" charset="0"/>
              </a:rPr>
              <a:t>Advanced Analytics</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Supports basic statistical analysis and can perform more complex calculations using built-in formulas and functions. Advanced analytics often require add-ins or external tools.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Includes built-in advanced analytics features such as trend analysis, forecasting, and clustering. It can integrate with programming languages like R and Python for deeper analytical capabilities.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Collaboration and Sharing</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Collaboration is possible but can be cumbersome, often requiring shared drives or email exchanges. Excel Online offers some collaborative features.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Provides robust sharing and collaboration options through Tableau Server and Tableau Online. Users can publish and share interactive dashboards with colleagues, who can view and interact with them in real-time.</a:t>
            </a:r>
          </a:p>
          <a:p>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a:spLocks/>
          </p:cNvSpPr>
          <p:nvPr/>
        </p:nvSpPr>
        <p:spPr>
          <a:xfrm>
            <a:off x="2227152" y="244444"/>
            <a:ext cx="9277460" cy="565772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Advanced Analytics</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Supports basic statistical analysis and can perform more complex calculations using built-in formulas and functions. Advanced analytics often require add-ins or external tools.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Includes built-in advanced analytics features such as trend analysis, forecasting, and clustering. It can integrate with programming languages like R and Python for deeper analytical capabilities.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Collaboration and Sharing</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Collaboration is possible but can be cumbersome, often requiring shared drives or email exchanges. Excel Online offers some collaborative features.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Provides robust sharing and collaboration options through Tableau Server and Tableau Online. Users can publish and share interactive dashboards with colleagues, who can view and interact with them in real-time.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757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2297" y="0"/>
            <a:ext cx="9422315" cy="5911222"/>
          </a:xfrm>
        </p:spPr>
        <p:txBody>
          <a:bodyPr>
            <a:normAutofit lnSpcReduction="10000"/>
          </a:bodyPr>
          <a:lstStyle/>
          <a:p>
            <a:r>
              <a:rPr lang="en-US" b="1" dirty="0">
                <a:latin typeface="Times New Roman" panose="02020603050405020304" pitchFamily="18" charset="0"/>
                <a:cs typeface="Times New Roman" panose="02020603050405020304" pitchFamily="18" charset="0"/>
              </a:rPr>
              <a:t>Scalability</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Best suited for individual or small team use and for smaller datasets. Its performance can degrade with very large data volumes.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Scales well to large teams and organizations. It is designed to handle big data and complex data environments efficiently.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Summary</a:t>
            </a:r>
          </a:p>
          <a:p>
            <a:r>
              <a:rPr lang="en-US" b="1" dirty="0">
                <a:latin typeface="Times New Roman" panose="02020603050405020304" pitchFamily="18" charset="0"/>
                <a:cs typeface="Times New Roman" panose="02020603050405020304" pitchFamily="18" charset="0"/>
              </a:rPr>
              <a:t>Excel</a:t>
            </a:r>
            <a:r>
              <a:rPr lang="en-US" dirty="0">
                <a:latin typeface="Times New Roman" panose="02020603050405020304" pitchFamily="18" charset="0"/>
                <a:cs typeface="Times New Roman" panose="02020603050405020304" pitchFamily="18" charset="0"/>
              </a:rPr>
              <a:t> is best for:</a:t>
            </a:r>
          </a:p>
          <a:p>
            <a:pPr lvl="1"/>
            <a:r>
              <a:rPr lang="en-US" dirty="0">
                <a:latin typeface="Times New Roman" panose="02020603050405020304" pitchFamily="18" charset="0"/>
                <a:cs typeface="Times New Roman" panose="02020603050405020304" pitchFamily="18" charset="0"/>
              </a:rPr>
              <a:t>Data entry and storage</a:t>
            </a:r>
          </a:p>
          <a:p>
            <a:pPr lvl="1"/>
            <a:r>
              <a:rPr lang="en-US" dirty="0">
                <a:latin typeface="Times New Roman" panose="02020603050405020304" pitchFamily="18" charset="0"/>
                <a:cs typeface="Times New Roman" panose="02020603050405020304" pitchFamily="18" charset="0"/>
              </a:rPr>
              <a:t>Financial modeling and budgeting</a:t>
            </a:r>
          </a:p>
          <a:p>
            <a:pPr lvl="1"/>
            <a:r>
              <a:rPr lang="en-US" dirty="0">
                <a:latin typeface="Times New Roman" panose="02020603050405020304" pitchFamily="18" charset="0"/>
                <a:cs typeface="Times New Roman" panose="02020603050405020304" pitchFamily="18" charset="0"/>
              </a:rPr>
              <a:t>Simple data analysis and visualization</a:t>
            </a:r>
          </a:p>
          <a:p>
            <a:pPr lvl="1"/>
            <a:r>
              <a:rPr lang="en-US" dirty="0">
                <a:latin typeface="Times New Roman" panose="02020603050405020304" pitchFamily="18" charset="0"/>
                <a:cs typeface="Times New Roman" panose="02020603050405020304" pitchFamily="18" charset="0"/>
              </a:rPr>
              <a:t>Detailed data manipulation and calculations</a:t>
            </a:r>
          </a:p>
          <a:p>
            <a:r>
              <a:rPr lang="en-US" b="1" dirty="0">
                <a:latin typeface="Times New Roman" panose="02020603050405020304" pitchFamily="18" charset="0"/>
                <a:cs typeface="Times New Roman" panose="02020603050405020304" pitchFamily="18" charset="0"/>
              </a:rPr>
              <a:t>Tableau</a:t>
            </a:r>
            <a:r>
              <a:rPr lang="en-US" dirty="0">
                <a:latin typeface="Times New Roman" panose="02020603050405020304" pitchFamily="18" charset="0"/>
                <a:cs typeface="Times New Roman" panose="02020603050405020304" pitchFamily="18" charset="0"/>
              </a:rPr>
              <a:t> is best for:</a:t>
            </a:r>
          </a:p>
          <a:p>
            <a:pPr lvl="1"/>
            <a:r>
              <a:rPr lang="en-US" dirty="0">
                <a:latin typeface="Times New Roman" panose="02020603050405020304" pitchFamily="18" charset="0"/>
                <a:cs typeface="Times New Roman" panose="02020603050405020304" pitchFamily="18" charset="0"/>
              </a:rPr>
              <a:t>Advanced and interactive data visualizations</a:t>
            </a:r>
          </a:p>
          <a:p>
            <a:pPr lvl="1"/>
            <a:r>
              <a:rPr lang="en-US" dirty="0">
                <a:latin typeface="Times New Roman" panose="02020603050405020304" pitchFamily="18" charset="0"/>
                <a:cs typeface="Times New Roman" panose="02020603050405020304" pitchFamily="18" charset="0"/>
              </a:rPr>
              <a:t>Handling large and complex datasets</a:t>
            </a:r>
          </a:p>
          <a:p>
            <a:pPr lvl="1"/>
            <a:r>
              <a:rPr lang="en-US" dirty="0">
                <a:latin typeface="Times New Roman" panose="02020603050405020304" pitchFamily="18" charset="0"/>
                <a:cs typeface="Times New Roman" panose="02020603050405020304" pitchFamily="18" charset="0"/>
              </a:rPr>
              <a:t>Real-time data analysis and monitoring</a:t>
            </a:r>
          </a:p>
          <a:p>
            <a:pPr lvl="1"/>
            <a:r>
              <a:rPr lang="en-US" dirty="0">
                <a:latin typeface="Times New Roman" panose="02020603050405020304" pitchFamily="18" charset="0"/>
                <a:cs typeface="Times New Roman" panose="02020603050405020304" pitchFamily="18" charset="0"/>
              </a:rPr>
              <a:t>Sharing and collaboration on data insights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888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701" y="596949"/>
            <a:ext cx="8911687" cy="1280890"/>
          </a:xfrm>
        </p:spPr>
        <p:txBody>
          <a:bodyPr/>
          <a:lstStyle/>
          <a:p>
            <a:r>
              <a:rPr lang="en-US" dirty="0">
                <a:latin typeface="Times New Roman" panose="02020603050405020304" pitchFamily="18" charset="0"/>
                <a:cs typeface="Times New Roman" panose="02020603050405020304" pitchFamily="18" charset="0"/>
              </a:rPr>
              <a:t>Tableau Desktop</a:t>
            </a:r>
          </a:p>
        </p:txBody>
      </p:sp>
      <p:sp>
        <p:nvSpPr>
          <p:cNvPr id="7" name="Content Placeholder 6"/>
          <p:cNvSpPr>
            <a:spLocks noGrp="1"/>
          </p:cNvSpPr>
          <p:nvPr>
            <p:ph idx="1"/>
          </p:nvPr>
        </p:nvSpPr>
        <p:spPr>
          <a:xfrm>
            <a:off x="2073244" y="1385179"/>
            <a:ext cx="9162106" cy="5196689"/>
          </a:xfrm>
        </p:spPr>
        <p:txBody>
          <a:bodyPr>
            <a:normAutofit/>
          </a:bodyPr>
          <a:lstStyle/>
          <a:p>
            <a:r>
              <a:rPr lang="en-US" b="1" dirty="0">
                <a:latin typeface="Times New Roman" panose="02020603050405020304" pitchFamily="18" charset="0"/>
                <a:cs typeface="Times New Roman" panose="02020603050405020304" pitchFamily="18" charset="0"/>
              </a:rPr>
              <a:t>Tableau Desktop </a:t>
            </a:r>
            <a:r>
              <a:rPr lang="en-US" dirty="0">
                <a:latin typeface="Times New Roman" panose="02020603050405020304" pitchFamily="18" charset="0"/>
                <a:cs typeface="Times New Roman" panose="02020603050405020304" pitchFamily="18" charset="0"/>
              </a:rPr>
              <a:t>is a professional-grade, standalone application used for creating and analyzing data visualizations. </a:t>
            </a:r>
          </a:p>
          <a:p>
            <a:r>
              <a:rPr lang="en-US" b="1" dirty="0">
                <a:latin typeface="Times New Roman" panose="02020603050405020304" pitchFamily="18" charset="0"/>
                <a:cs typeface="Times New Roman" panose="02020603050405020304" pitchFamily="18" charset="0"/>
              </a:rPr>
              <a:t>Advanced Features</a:t>
            </a:r>
            <a:r>
              <a:rPr lang="en-US" dirty="0">
                <a:latin typeface="Times New Roman" panose="02020603050405020304" pitchFamily="18" charset="0"/>
                <a:cs typeface="Times New Roman" panose="02020603050405020304" pitchFamily="18" charset="0"/>
              </a:rPr>
              <a:t>: Offers a wide range of advanced analytics and visualization tools, including complex calculations, predictive analysis, and sophisticated chart types.</a:t>
            </a:r>
          </a:p>
          <a:p>
            <a:r>
              <a:rPr lang="en-US" b="1" dirty="0">
                <a:latin typeface="Times New Roman" panose="02020603050405020304" pitchFamily="18" charset="0"/>
                <a:cs typeface="Times New Roman" panose="02020603050405020304" pitchFamily="18" charset="0"/>
              </a:rPr>
              <a:t>Data Connectivity: </a:t>
            </a:r>
            <a:r>
              <a:rPr lang="en-US" dirty="0">
                <a:latin typeface="Times New Roman" panose="02020603050405020304" pitchFamily="18" charset="0"/>
                <a:cs typeface="Times New Roman" panose="02020603050405020304" pitchFamily="18" charset="0"/>
              </a:rPr>
              <a:t>Can connect to a vast array of data sources including local files (Excel, CSV), databases (SQL Server, Oracle, MySQL), cloud services (Google Analytics, Salesforce), and big data platforms (</a:t>
            </a:r>
            <a:r>
              <a:rPr lang="en-US" dirty="0" err="1">
                <a:latin typeface="Times New Roman" panose="02020603050405020304" pitchFamily="18" charset="0"/>
                <a:cs typeface="Times New Roman" panose="02020603050405020304" pitchFamily="18" charset="0"/>
              </a:rPr>
              <a:t>Hadoop</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Customization</a:t>
            </a:r>
            <a:r>
              <a:rPr lang="en-US" dirty="0">
                <a:latin typeface="Times New Roman" panose="02020603050405020304" pitchFamily="18" charset="0"/>
                <a:cs typeface="Times New Roman" panose="02020603050405020304" pitchFamily="18" charset="0"/>
              </a:rPr>
              <a:t>: Highly customizable dashboards and visualizations. Users can format charts, apply filters, and create interactive elements.</a:t>
            </a:r>
          </a:p>
          <a:p>
            <a:r>
              <a:rPr lang="en-US" b="1" dirty="0">
                <a:latin typeface="Times New Roman" panose="02020603050405020304" pitchFamily="18" charset="0"/>
                <a:cs typeface="Times New Roman" panose="02020603050405020304" pitchFamily="18" charset="0"/>
              </a:rPr>
              <a:t>Data Preparation: </a:t>
            </a:r>
            <a:r>
              <a:rPr lang="en-US" dirty="0">
                <a:latin typeface="Times New Roman" panose="02020603050405020304" pitchFamily="18" charset="0"/>
                <a:cs typeface="Times New Roman" panose="02020603050405020304" pitchFamily="18" charset="0"/>
              </a:rPr>
              <a:t>Includes tools for data cleaning, blending, and transformation, enabling users to prepare data for analysis within the application.</a:t>
            </a:r>
          </a:p>
          <a:p>
            <a:r>
              <a:rPr lang="en-US" b="1" dirty="0">
                <a:latin typeface="Times New Roman" panose="02020603050405020304" pitchFamily="18" charset="0"/>
                <a:cs typeface="Times New Roman" panose="02020603050405020304" pitchFamily="18" charset="0"/>
              </a:rPr>
              <a:t>Local and Server Publishing: </a:t>
            </a:r>
            <a:r>
              <a:rPr lang="en-US" dirty="0">
                <a:latin typeface="Times New Roman" panose="02020603050405020304" pitchFamily="18" charset="0"/>
                <a:cs typeface="Times New Roman" panose="02020603050405020304" pitchFamily="18" charset="0"/>
              </a:rPr>
              <a:t>Allows users to save their work locally or publish dashboards to Tableau Server or Tableau Online for sharing and collaboration within an organization.</a:t>
            </a:r>
          </a:p>
          <a:p>
            <a:r>
              <a:rPr lang="en-US" b="1" dirty="0">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Offers robust security features for data access and sharing, ensuring data privacy and compliance with organizational policies.</a:t>
            </a:r>
          </a:p>
        </p:txBody>
      </p:sp>
    </p:spTree>
    <p:extLst>
      <p:ext uri="{BB962C8B-B14F-4D97-AF65-F5344CB8AC3E}">
        <p14:creationId xmlns:p14="http://schemas.microsoft.com/office/powerpoint/2010/main" val="100795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480" y="570369"/>
            <a:ext cx="9512850" cy="1696770"/>
          </a:xfrm>
        </p:spPr>
        <p:txBody>
          <a:bodyPr/>
          <a:lstStyle/>
          <a:p>
            <a:r>
              <a:rPr lang="en-US" dirty="0">
                <a:latin typeface="Times New Roman" panose="02020603050405020304" pitchFamily="18" charset="0"/>
                <a:cs typeface="Times New Roman" panose="02020603050405020304" pitchFamily="18" charset="0"/>
              </a:rPr>
              <a:t>Tableau Public</a:t>
            </a:r>
          </a:p>
        </p:txBody>
      </p:sp>
      <p:sp>
        <p:nvSpPr>
          <p:cNvPr id="3" name="Content Placeholder 2"/>
          <p:cNvSpPr>
            <a:spLocks noGrp="1"/>
          </p:cNvSpPr>
          <p:nvPr>
            <p:ph idx="1"/>
          </p:nvPr>
        </p:nvSpPr>
        <p:spPr>
          <a:xfrm>
            <a:off x="1837854" y="1502875"/>
            <a:ext cx="9886384" cy="5617675"/>
          </a:xfrm>
        </p:spPr>
        <p:txBody>
          <a:bodyPr>
            <a:normAutofit/>
          </a:bodyPr>
          <a:lstStyle/>
          <a:p>
            <a:r>
              <a:rPr lang="en-US" b="1" dirty="0">
                <a:latin typeface="Times New Roman" panose="02020603050405020304" pitchFamily="18" charset="0"/>
                <a:cs typeface="Times New Roman" panose="02020603050405020304" pitchFamily="18" charset="0"/>
              </a:rPr>
              <a:t>Tableau Public</a:t>
            </a:r>
            <a:r>
              <a:rPr lang="en-US" dirty="0">
                <a:latin typeface="Times New Roman" panose="02020603050405020304" pitchFamily="18" charset="0"/>
                <a:cs typeface="Times New Roman" panose="02020603050405020304" pitchFamily="18" charset="0"/>
              </a:rPr>
              <a:t> is a free, cloud-based version of Tableau designed for sharing visualizations with the public. </a:t>
            </a:r>
          </a:p>
          <a:p>
            <a:r>
              <a:rPr lang="en-US" b="1" dirty="0">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Free to use, making it accessible for students, educators, bloggers, and anyone interested in data visualization.</a:t>
            </a:r>
          </a:p>
          <a:p>
            <a:r>
              <a:rPr lang="en-US" b="1" dirty="0">
                <a:latin typeface="Times New Roman" panose="02020603050405020304" pitchFamily="18" charset="0"/>
                <a:cs typeface="Times New Roman" panose="02020603050405020304" pitchFamily="18" charset="0"/>
              </a:rPr>
              <a:t>Data Connectivity</a:t>
            </a:r>
            <a:r>
              <a:rPr lang="en-US" dirty="0">
                <a:latin typeface="Times New Roman" panose="02020603050405020304" pitchFamily="18" charset="0"/>
                <a:cs typeface="Times New Roman" panose="02020603050405020304" pitchFamily="18" charset="0"/>
              </a:rPr>
              <a:t>: Limited compared to Tableau Desktop. Connects to data sources such as Excel, Google Sheets, and some web data connectors, but lacks extensive database connectivity.</a:t>
            </a:r>
          </a:p>
          <a:p>
            <a:r>
              <a:rPr lang="en-US" b="1" dirty="0">
                <a:latin typeface="Times New Roman" panose="02020603050405020304" pitchFamily="18" charset="0"/>
                <a:cs typeface="Times New Roman" panose="02020603050405020304" pitchFamily="18" charset="0"/>
              </a:rPr>
              <a:t>Public Sharing</a:t>
            </a:r>
            <a:r>
              <a:rPr lang="en-US" dirty="0">
                <a:latin typeface="Times New Roman" panose="02020603050405020304" pitchFamily="18" charset="0"/>
                <a:cs typeface="Times New Roman" panose="02020603050405020304" pitchFamily="18" charset="0"/>
              </a:rPr>
              <a:t>: All visualizations created in Tableau Public must be saved to the Tableau Public server, meaning they are publicly accessible. This makes it ideal for public-facing projects but unsuitable for sensitive or confidential data.</a:t>
            </a:r>
          </a:p>
          <a:p>
            <a:r>
              <a:rPr lang="en-US" b="1" dirty="0">
                <a:latin typeface="Times New Roman" panose="02020603050405020304" pitchFamily="18" charset="0"/>
                <a:cs typeface="Times New Roman" panose="02020603050405020304" pitchFamily="18" charset="0"/>
              </a:rPr>
              <a:t>Community and Exposure</a:t>
            </a:r>
            <a:r>
              <a:rPr lang="en-US" dirty="0">
                <a:latin typeface="Times New Roman" panose="02020603050405020304" pitchFamily="18" charset="0"/>
                <a:cs typeface="Times New Roman" panose="02020603050405020304" pitchFamily="18" charset="0"/>
              </a:rPr>
              <a:t>: Visualizations published to Tableau Public can be seen and interacted with by anyone, which is great for gaining exposure, sharing insights, and contributing to the data visualization community.</a:t>
            </a:r>
          </a:p>
          <a:p>
            <a:r>
              <a:rPr lang="en-US" b="1" dirty="0">
                <a:latin typeface="Times New Roman" panose="02020603050405020304" pitchFamily="18" charset="0"/>
                <a:cs typeface="Times New Roman" panose="02020603050405020304" pitchFamily="18" charset="0"/>
              </a:rPr>
              <a:t>Feature Limitations</a:t>
            </a:r>
            <a:r>
              <a:rPr lang="en-US" dirty="0">
                <a:latin typeface="Times New Roman" panose="02020603050405020304" pitchFamily="18" charset="0"/>
                <a:cs typeface="Times New Roman" panose="02020603050405020304" pitchFamily="18" charset="0"/>
              </a:rPr>
              <a:t>: Lacks some advanced features available in Tableau Desktop, such as certain data preparation and advanced analytics functionalities.</a:t>
            </a:r>
          </a:p>
        </p:txBody>
      </p:sp>
    </p:spTree>
    <p:extLst>
      <p:ext uri="{BB962C8B-B14F-4D97-AF65-F5344CB8AC3E}">
        <p14:creationId xmlns:p14="http://schemas.microsoft.com/office/powerpoint/2010/main" val="2121942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3946" y="597528"/>
            <a:ext cx="9454894" cy="1207883"/>
          </a:xfrm>
        </p:spPr>
        <p:txBody>
          <a:bodyPr/>
          <a:lstStyle/>
          <a:p>
            <a:r>
              <a:rPr lang="en-US" dirty="0">
                <a:latin typeface="Times New Roman" panose="02020603050405020304" pitchFamily="18" charset="0"/>
                <a:cs typeface="Times New Roman" panose="02020603050405020304" pitchFamily="18" charset="0"/>
              </a:rPr>
              <a:t>Data types in tableau</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83946" y="1303701"/>
            <a:ext cx="9639598" cy="5785164"/>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Data types define the kind of data that can be stored in a field. Correctly identifying and understanding data types is crucial for effective data analysis and visualization. Tableau automatically detects data types when you import data, but you can also manually change them if needed. Here are the primary data types in Tableau:</a:t>
            </a:r>
          </a:p>
          <a:p>
            <a:pPr marL="0" indent="0">
              <a:buNone/>
            </a:pPr>
            <a:r>
              <a:rPr lang="en-US" b="1" dirty="0">
                <a:latin typeface="Times New Roman" panose="02020603050405020304" pitchFamily="18" charset="0"/>
                <a:cs typeface="Times New Roman" panose="02020603050405020304" pitchFamily="18" charset="0"/>
              </a:rPr>
              <a:t>1. String (Text)</a:t>
            </a:r>
          </a:p>
          <a:p>
            <a:pPr marL="0" indent="0">
              <a:buNone/>
            </a:pPr>
            <a:r>
              <a:rPr lang="en-US" dirty="0">
                <a:latin typeface="Times New Roman" panose="02020603050405020304" pitchFamily="18" charset="0"/>
                <a:cs typeface="Times New Roman" panose="02020603050405020304" pitchFamily="18" charset="0"/>
              </a:rPr>
              <a:t>                      Description: Represents text data.</a:t>
            </a:r>
          </a:p>
          <a:p>
            <a:pPr marL="0" indent="0">
              <a:buNone/>
            </a:pPr>
            <a:r>
              <a:rPr lang="en-US" dirty="0">
                <a:latin typeface="Times New Roman" panose="02020603050405020304" pitchFamily="18" charset="0"/>
                <a:cs typeface="Times New Roman" panose="02020603050405020304" pitchFamily="18" charset="0"/>
              </a:rPr>
              <a:t>                      Usage: Used for categorical data such as names, categories, and other non-numeric data.</a:t>
            </a:r>
          </a:p>
          <a:p>
            <a:pPr marL="0" indent="0">
              <a:buNone/>
            </a:pPr>
            <a:r>
              <a:rPr lang="en-US" dirty="0">
                <a:latin typeface="Times New Roman" panose="02020603050405020304" pitchFamily="18" charset="0"/>
                <a:cs typeface="Times New Roman" panose="02020603050405020304" pitchFamily="18" charset="0"/>
              </a:rPr>
              <a:t>                      Examples: "John Doe", "Product A", "New York"</a:t>
            </a:r>
          </a:p>
          <a:p>
            <a:pPr marL="0" indent="0">
              <a:buNone/>
            </a:pPr>
            <a:r>
              <a:rPr lang="en-US" b="1" dirty="0">
                <a:latin typeface="Times New Roman" panose="02020603050405020304" pitchFamily="18" charset="0"/>
                <a:cs typeface="Times New Roman" panose="02020603050405020304" pitchFamily="18" charset="0"/>
              </a:rPr>
              <a:t>2. Number (Numeric)</a:t>
            </a:r>
          </a:p>
          <a:p>
            <a:pPr marL="0" indent="0">
              <a:buNone/>
            </a:pPr>
            <a:r>
              <a:rPr lang="en-US" dirty="0">
                <a:latin typeface="Times New Roman" panose="02020603050405020304" pitchFamily="18" charset="0"/>
                <a:cs typeface="Times New Roman" panose="02020603050405020304" pitchFamily="18" charset="0"/>
              </a:rPr>
              <a:t>                        Description: Represents numeric data.</a:t>
            </a:r>
          </a:p>
          <a:p>
            <a:pPr marL="0" indent="0">
              <a:buNone/>
            </a:pPr>
            <a:r>
              <a:rPr lang="en-US" dirty="0">
                <a:latin typeface="Times New Roman" panose="02020603050405020304" pitchFamily="18" charset="0"/>
                <a:cs typeface="Times New Roman" panose="02020603050405020304" pitchFamily="18" charset="0"/>
              </a:rPr>
              <a:t>                        Subtypes:</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Integer</a:t>
            </a:r>
            <a:r>
              <a:rPr lang="en-US" dirty="0">
                <a:latin typeface="Times New Roman" panose="02020603050405020304" pitchFamily="18" charset="0"/>
                <a:cs typeface="Times New Roman" panose="02020603050405020304" pitchFamily="18" charset="0"/>
              </a:rPr>
              <a:t>: Whole numbers without decimals.</a:t>
            </a:r>
          </a:p>
          <a:p>
            <a:pPr marL="0" indent="0">
              <a:buNone/>
            </a:pPr>
            <a:r>
              <a:rPr lang="en-US" dirty="0">
                <a:latin typeface="Times New Roman" panose="02020603050405020304" pitchFamily="18" charset="0"/>
                <a:cs typeface="Times New Roman" panose="02020603050405020304" pitchFamily="18" charset="0"/>
              </a:rPr>
              <a:t>                        Examples: 1, 42, -7</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Decimal (Floating-point): </a:t>
            </a:r>
            <a:r>
              <a:rPr lang="en-US" dirty="0">
                <a:latin typeface="Times New Roman" panose="02020603050405020304" pitchFamily="18" charset="0"/>
                <a:cs typeface="Times New Roman" panose="02020603050405020304" pitchFamily="18" charset="0"/>
              </a:rPr>
              <a:t>Numbers with decimals.</a:t>
            </a:r>
          </a:p>
          <a:p>
            <a:pPr marL="0" indent="0">
              <a:buNone/>
            </a:pPr>
            <a:r>
              <a:rPr lang="en-US" dirty="0">
                <a:latin typeface="Times New Roman" panose="02020603050405020304" pitchFamily="18" charset="0"/>
                <a:cs typeface="Times New Roman" panose="02020603050405020304" pitchFamily="18" charset="0"/>
              </a:rPr>
              <a:t>                        Examples: 3.14, -0.001, 2500.75</a:t>
            </a:r>
          </a:p>
          <a:p>
            <a:pPr marL="0" indent="0">
              <a:buNone/>
            </a:pPr>
            <a:r>
              <a:rPr lang="en-US" dirty="0">
                <a:latin typeface="Times New Roman" panose="02020603050405020304" pitchFamily="18" charset="0"/>
                <a:cs typeface="Times New Roman" panose="02020603050405020304" pitchFamily="18" charset="0"/>
              </a:rPr>
              <a:t>                        Usage: Used for quantitative data such as sales figures, counts, and measurements.</a:t>
            </a:r>
          </a:p>
        </p:txBody>
      </p:sp>
    </p:spTree>
    <p:extLst>
      <p:ext uri="{BB962C8B-B14F-4D97-AF65-F5344CB8AC3E}">
        <p14:creationId xmlns:p14="http://schemas.microsoft.com/office/powerpoint/2010/main" val="379408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814811"/>
            <a:ext cx="9512850" cy="6418907"/>
          </a:xfrm>
        </p:spPr>
        <p:txBody>
          <a:bodyPr/>
          <a:lstStyle/>
          <a:p>
            <a:pPr marL="0" indent="0">
              <a:buNone/>
            </a:pPr>
            <a:r>
              <a:rPr lang="en-US" b="1" dirty="0">
                <a:latin typeface="Times New Roman" panose="02020603050405020304" pitchFamily="18" charset="0"/>
                <a:cs typeface="Times New Roman" panose="02020603050405020304" pitchFamily="18" charset="0"/>
              </a:rPr>
              <a:t>3. Date and Time</a:t>
            </a:r>
          </a:p>
          <a:p>
            <a:pPr marL="0" indent="0">
              <a:buNone/>
            </a:pPr>
            <a:r>
              <a:rPr lang="en-US" dirty="0">
                <a:latin typeface="Times New Roman" panose="02020603050405020304" pitchFamily="18" charset="0"/>
                <a:cs typeface="Times New Roman" panose="02020603050405020304" pitchFamily="18" charset="0"/>
              </a:rPr>
              <a:t>                     Description: Represents dates and times.</a:t>
            </a:r>
          </a:p>
          <a:p>
            <a:pPr marL="0" indent="0">
              <a:buNone/>
            </a:pPr>
            <a:r>
              <a:rPr lang="en-US" dirty="0">
                <a:latin typeface="Times New Roman" panose="02020603050405020304" pitchFamily="18" charset="0"/>
                <a:cs typeface="Times New Roman" panose="02020603050405020304" pitchFamily="18" charset="0"/>
              </a:rPr>
              <a:t>                     Subtypes:</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Date</a:t>
            </a:r>
            <a:r>
              <a:rPr lang="en-US" dirty="0">
                <a:latin typeface="Times New Roman" panose="02020603050405020304" pitchFamily="18" charset="0"/>
                <a:cs typeface="Times New Roman" panose="02020603050405020304" pitchFamily="18" charset="0"/>
              </a:rPr>
              <a:t>: Contains only date information.</a:t>
            </a:r>
          </a:p>
          <a:p>
            <a:pPr marL="0" indent="0">
              <a:buNone/>
            </a:pPr>
            <a:r>
              <a:rPr lang="en-US" dirty="0">
                <a:latin typeface="Times New Roman" panose="02020603050405020304" pitchFamily="18" charset="0"/>
                <a:cs typeface="Times New Roman" panose="02020603050405020304" pitchFamily="18" charset="0"/>
              </a:rPr>
              <a:t>                     Examples: "2024-06-02", "2021-12-25"</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Date &amp; Time</a:t>
            </a:r>
            <a:r>
              <a:rPr lang="en-US" dirty="0">
                <a:latin typeface="Times New Roman" panose="02020603050405020304" pitchFamily="18" charset="0"/>
                <a:cs typeface="Times New Roman" panose="02020603050405020304" pitchFamily="18" charset="0"/>
              </a:rPr>
              <a:t>: Contains both date and time information.</a:t>
            </a:r>
          </a:p>
          <a:p>
            <a:pPr marL="0" indent="0">
              <a:buNone/>
            </a:pPr>
            <a:r>
              <a:rPr lang="en-US" dirty="0">
                <a:latin typeface="Times New Roman" panose="02020603050405020304" pitchFamily="18" charset="0"/>
                <a:cs typeface="Times New Roman" panose="02020603050405020304" pitchFamily="18" charset="0"/>
              </a:rPr>
              <a:t>                     Examples: "2024-06-02 14:30:00", "2021-12-25 08:45:00"</a:t>
            </a:r>
          </a:p>
          <a:p>
            <a:pPr marL="0" indent="0">
              <a:buNone/>
            </a:pPr>
            <a:r>
              <a:rPr lang="en-US" dirty="0">
                <a:latin typeface="Times New Roman" panose="02020603050405020304" pitchFamily="18" charset="0"/>
                <a:cs typeface="Times New Roman" panose="02020603050405020304" pitchFamily="18" charset="0"/>
              </a:rPr>
              <a:t>                     Usage: Used for temporal data analysis such as trends over time, time series                  </a:t>
            </a:r>
          </a:p>
          <a:p>
            <a:pPr marL="0" indent="0">
              <a:buNone/>
            </a:pPr>
            <a:r>
              <a:rPr lang="en-US" dirty="0">
                <a:latin typeface="Times New Roman" panose="02020603050405020304" pitchFamily="18" charset="0"/>
                <a:cs typeface="Times New Roman" panose="02020603050405020304" pitchFamily="18" charset="0"/>
              </a:rPr>
              <a:t>                      analysis, and event tracking.</a:t>
            </a:r>
          </a:p>
          <a:p>
            <a:pPr marL="0" indent="0">
              <a:buNone/>
            </a:pPr>
            <a:r>
              <a:rPr lang="en-US" b="1" dirty="0">
                <a:latin typeface="Times New Roman" panose="02020603050405020304" pitchFamily="18" charset="0"/>
                <a:cs typeface="Times New Roman" panose="02020603050405020304" pitchFamily="18" charset="0"/>
              </a:rPr>
              <a:t>4. Boolean</a:t>
            </a:r>
          </a:p>
          <a:p>
            <a:pPr marL="0" indent="0">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Description: Represents binary data.</a:t>
            </a:r>
          </a:p>
          <a:p>
            <a:pPr marL="0" indent="0">
              <a:buNone/>
            </a:pPr>
            <a:r>
              <a:rPr lang="en-US" dirty="0">
                <a:latin typeface="Times New Roman" panose="02020603050405020304" pitchFamily="18" charset="0"/>
                <a:cs typeface="Times New Roman" panose="02020603050405020304" pitchFamily="18" charset="0"/>
              </a:rPr>
              <a:t>                           Values: True/False or Yes/No</a:t>
            </a:r>
          </a:p>
          <a:p>
            <a:pPr marL="0" indent="0">
              <a:buNone/>
            </a:pPr>
            <a:r>
              <a:rPr lang="en-US" dirty="0">
                <a:latin typeface="Times New Roman" panose="02020603050405020304" pitchFamily="18" charset="0"/>
                <a:cs typeface="Times New Roman" panose="02020603050405020304" pitchFamily="18" charset="0"/>
              </a:rPr>
              <a:t>                           Usage: Used for logical operations, conditions, and filters.</a:t>
            </a:r>
          </a:p>
        </p:txBody>
      </p:sp>
    </p:spTree>
    <p:extLst>
      <p:ext uri="{BB962C8B-B14F-4D97-AF65-F5344CB8AC3E}">
        <p14:creationId xmlns:p14="http://schemas.microsoft.com/office/powerpoint/2010/main" val="141926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5838" y="624689"/>
            <a:ext cx="9838774" cy="6129196"/>
          </a:xfrm>
        </p:spPr>
        <p:txBody>
          <a:bodyPr>
            <a:normAutofit/>
          </a:bodyPr>
          <a:lstStyle/>
          <a:p>
            <a:pPr marL="0" indent="0">
              <a:buNone/>
            </a:pPr>
            <a:r>
              <a:rPr lang="en-US" b="1" dirty="0"/>
              <a:t>5. Geographical</a:t>
            </a:r>
          </a:p>
          <a:p>
            <a:pPr marL="0" indent="0">
              <a:buNone/>
            </a:pPr>
            <a:r>
              <a:rPr lang="en-US" dirty="0"/>
              <a:t>                             Description: Represents geographical data.</a:t>
            </a:r>
          </a:p>
          <a:p>
            <a:pPr marL="0" indent="0">
              <a:buNone/>
            </a:pPr>
            <a:r>
              <a:rPr lang="en-US" dirty="0"/>
              <a:t>                              Subtypes:</a:t>
            </a:r>
          </a:p>
          <a:p>
            <a:pPr marL="0" indent="0">
              <a:buNone/>
            </a:pPr>
            <a:r>
              <a:rPr lang="en-US" dirty="0"/>
              <a:t>                              Country/Region</a:t>
            </a:r>
          </a:p>
          <a:p>
            <a:pPr marL="0" indent="0">
              <a:buNone/>
            </a:pPr>
            <a:r>
              <a:rPr lang="en-US" dirty="0"/>
              <a:t>                              State/Province</a:t>
            </a:r>
          </a:p>
          <a:p>
            <a:pPr marL="0" indent="0">
              <a:buNone/>
            </a:pPr>
            <a:r>
              <a:rPr lang="en-US" dirty="0"/>
              <a:t>                              City</a:t>
            </a:r>
          </a:p>
          <a:p>
            <a:pPr marL="0" indent="0">
              <a:buNone/>
            </a:pPr>
            <a:r>
              <a:rPr lang="en-US" dirty="0"/>
              <a:t>                              Postal Code</a:t>
            </a:r>
          </a:p>
          <a:p>
            <a:pPr marL="0" indent="0">
              <a:buNone/>
            </a:pPr>
            <a:r>
              <a:rPr lang="en-US" dirty="0"/>
              <a:t>                              Latitude and Longitude</a:t>
            </a:r>
          </a:p>
          <a:p>
            <a:pPr marL="0" indent="0">
              <a:buNone/>
            </a:pPr>
            <a:r>
              <a:rPr lang="en-US" dirty="0"/>
              <a:t>                              Usage: Used for mapping data and geographical analysis. Tableau                     </a:t>
            </a:r>
          </a:p>
          <a:p>
            <a:pPr marL="0" indent="0">
              <a:buNone/>
            </a:pPr>
            <a:r>
              <a:rPr lang="en-US" dirty="0"/>
              <a:t>                               recognizes these data types and can plot them on maps.</a:t>
            </a:r>
          </a:p>
        </p:txBody>
      </p:sp>
    </p:spTree>
    <p:extLst>
      <p:ext uri="{BB962C8B-B14F-4D97-AF65-F5344CB8AC3E}">
        <p14:creationId xmlns:p14="http://schemas.microsoft.com/office/powerpoint/2010/main" val="730773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Column formatting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Column Name [Changing to new name or resetting it back)</a:t>
            </a:r>
          </a:p>
          <a:p>
            <a:r>
              <a:rPr lang="en-US" dirty="0">
                <a:latin typeface="Times New Roman" panose="02020603050405020304" pitchFamily="18" charset="0"/>
                <a:cs typeface="Times New Roman" panose="02020603050405020304" pitchFamily="18" charset="0"/>
              </a:rPr>
              <a:t>Splitting columns using delimiter.</a:t>
            </a:r>
          </a:p>
          <a:p>
            <a:r>
              <a:rPr lang="en-US" dirty="0">
                <a:latin typeface="Times New Roman" panose="02020603050405020304" pitchFamily="18" charset="0"/>
                <a:cs typeface="Times New Roman" panose="02020603050405020304" pitchFamily="18" charset="0"/>
              </a:rPr>
              <a:t>Sorting columns. [headers]</a:t>
            </a:r>
          </a:p>
          <a:p>
            <a:r>
              <a:rPr lang="en-US" dirty="0">
                <a:latin typeface="Times New Roman" panose="02020603050405020304" pitchFamily="18" charset="0"/>
                <a:cs typeface="Times New Roman" panose="02020603050405020304" pitchFamily="18" charset="0"/>
              </a:rPr>
              <a:t>Sorting column. [values]</a:t>
            </a:r>
          </a:p>
          <a:p>
            <a:r>
              <a:rPr lang="en-US" dirty="0">
                <a:latin typeface="Times New Roman" panose="02020603050405020304" pitchFamily="18" charset="0"/>
                <a:cs typeface="Times New Roman" panose="02020603050405020304" pitchFamily="18" charset="0"/>
              </a:rPr>
              <a:t>Delete the column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94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9163" y="632933"/>
            <a:ext cx="8911687" cy="1280890"/>
          </a:xfrm>
        </p:spPr>
        <p:txBody>
          <a:bodyPr/>
          <a:lstStyle/>
          <a:p>
            <a:r>
              <a:rPr lang="en-US" dirty="0">
                <a:latin typeface="Times New Roman" panose="02020603050405020304" pitchFamily="18" charset="0"/>
                <a:cs typeface="Times New Roman" panose="02020603050405020304" pitchFamily="18" charset="0"/>
              </a:rPr>
              <a:t>Understanding Drill-Down Hierarchy</a:t>
            </a:r>
          </a:p>
        </p:txBody>
      </p:sp>
      <p:sp>
        <p:nvSpPr>
          <p:cNvPr id="3" name="Content Placeholder 2"/>
          <p:cNvSpPr>
            <a:spLocks noGrp="1"/>
          </p:cNvSpPr>
          <p:nvPr>
            <p:ph idx="1"/>
          </p:nvPr>
        </p:nvSpPr>
        <p:spPr>
          <a:xfrm>
            <a:off x="2261953" y="2104724"/>
            <a:ext cx="8915400" cy="3777622"/>
          </a:xfrm>
        </p:spPr>
        <p:txBody>
          <a:bodyPr/>
          <a:lstStyle/>
          <a:p>
            <a:r>
              <a:rPr lang="en-US" dirty="0">
                <a:latin typeface="Times New Roman" panose="02020603050405020304" pitchFamily="18" charset="0"/>
                <a:cs typeface="Times New Roman" panose="02020603050405020304" pitchFamily="18" charset="0"/>
              </a:rPr>
              <a:t>A hierarchy in Tableau typically consists of fields that have a natural hierarchical relationship. For example:</a:t>
            </a:r>
          </a:p>
          <a:p>
            <a:r>
              <a:rPr lang="en-US" b="1" dirty="0">
                <a:latin typeface="Times New Roman" panose="02020603050405020304" pitchFamily="18" charset="0"/>
                <a:cs typeface="Times New Roman" panose="02020603050405020304" pitchFamily="18" charset="0"/>
              </a:rPr>
              <a:t>Geographic Hierarchy</a:t>
            </a:r>
            <a:r>
              <a:rPr lang="en-US" dirty="0">
                <a:latin typeface="Times New Roman" panose="02020603050405020304" pitchFamily="18" charset="0"/>
                <a:cs typeface="Times New Roman" panose="02020603050405020304" pitchFamily="18" charset="0"/>
              </a:rPr>
              <a:t>: Country &gt; State/Province &gt; City</a:t>
            </a:r>
          </a:p>
          <a:p>
            <a:r>
              <a:rPr lang="en-US" b="1" dirty="0">
                <a:latin typeface="Times New Roman" panose="02020603050405020304" pitchFamily="18" charset="0"/>
                <a:cs typeface="Times New Roman" panose="02020603050405020304" pitchFamily="18" charset="0"/>
              </a:rPr>
              <a:t>Time Hierarchy</a:t>
            </a:r>
            <a:r>
              <a:rPr lang="en-US" dirty="0">
                <a:latin typeface="Times New Roman" panose="02020603050405020304" pitchFamily="18" charset="0"/>
                <a:cs typeface="Times New Roman" panose="02020603050405020304" pitchFamily="18" charset="0"/>
              </a:rPr>
              <a:t>: Year &gt; Quarter &gt; Month &gt; Day</a:t>
            </a:r>
          </a:p>
          <a:p>
            <a:r>
              <a:rPr lang="en-US" b="1" dirty="0">
                <a:latin typeface="Times New Roman" panose="02020603050405020304" pitchFamily="18" charset="0"/>
                <a:cs typeface="Times New Roman" panose="02020603050405020304" pitchFamily="18" charset="0"/>
              </a:rPr>
              <a:t>Product Hierarchy</a:t>
            </a:r>
            <a:r>
              <a:rPr lang="en-US" dirty="0">
                <a:latin typeface="Times New Roman" panose="02020603050405020304" pitchFamily="18" charset="0"/>
                <a:cs typeface="Times New Roman" panose="02020603050405020304" pitchFamily="18" charset="0"/>
              </a:rPr>
              <a:t>: Category &gt; Sub-Category &gt; Product Name</a:t>
            </a:r>
          </a:p>
        </p:txBody>
      </p:sp>
    </p:spTree>
    <p:extLst>
      <p:ext uri="{BB962C8B-B14F-4D97-AF65-F5344CB8AC3E}">
        <p14:creationId xmlns:p14="http://schemas.microsoft.com/office/powerpoint/2010/main" val="179789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Ways of sorting in tableau charts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Quick sort</a:t>
            </a:r>
          </a:p>
          <a:p>
            <a:r>
              <a:rPr lang="en-US" dirty="0">
                <a:latin typeface="Times New Roman" panose="02020603050405020304" pitchFamily="18" charset="0"/>
                <a:cs typeface="Times New Roman" panose="02020603050405020304" pitchFamily="18" charset="0"/>
              </a:rPr>
              <a:t>Toolbar sort</a:t>
            </a:r>
          </a:p>
          <a:p>
            <a:r>
              <a:rPr lang="en-US" dirty="0">
                <a:latin typeface="Times New Roman" panose="02020603050405020304" pitchFamily="18" charset="0"/>
                <a:cs typeface="Times New Roman" panose="02020603050405020304" pitchFamily="18" charset="0"/>
              </a:rPr>
              <a:t>Pills sort</a:t>
            </a:r>
          </a:p>
          <a:p>
            <a:r>
              <a:rPr lang="en-US" dirty="0">
                <a:latin typeface="Times New Roman" panose="02020603050405020304" pitchFamily="18" charset="0"/>
                <a:cs typeface="Times New Roman" panose="02020603050405020304" pitchFamily="18" charset="0"/>
              </a:rPr>
              <a:t>Marks card sort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076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3244" y="860078"/>
            <a:ext cx="9431368" cy="5848540"/>
          </a:xfrm>
        </p:spPr>
        <p:txBody>
          <a:bodyPr>
            <a:normAutofit/>
          </a:bodyPr>
          <a:lstStyle/>
          <a:p>
            <a:r>
              <a:rPr lang="en-US" b="1" dirty="0">
                <a:latin typeface="Times New Roman" panose="02020603050405020304" pitchFamily="18" charset="0"/>
                <a:cs typeface="Times New Roman" panose="02020603050405020304" pitchFamily="18" charset="0"/>
              </a:rPr>
              <a:t>Groups</a:t>
            </a:r>
            <a:r>
              <a:rPr lang="en-US" dirty="0">
                <a:latin typeface="Times New Roman" panose="02020603050405020304" pitchFamily="18" charset="0"/>
                <a:cs typeface="Times New Roman" panose="02020603050405020304" pitchFamily="18" charset="0"/>
              </a:rPr>
              <a:t> are a feature that allows you to combine multiple dimension members into a single, higher-level category. This is useful for simplifying and organizing your data, making it easier to analyze and visualize. For instance, you might group various product types into broader categories, or several regions into a single territory.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Measures</a:t>
            </a:r>
            <a:r>
              <a:rPr lang="en-US" dirty="0">
                <a:latin typeface="Times New Roman" panose="02020603050405020304" pitchFamily="18" charset="0"/>
                <a:cs typeface="Times New Roman" panose="02020603050405020304" pitchFamily="18" charset="0"/>
              </a:rPr>
              <a:t> are quantitative data that you can aggregate and analyze. They represent the numeric values on which you perform calculations like sums, averages, minimums, maximums, and other statistical operations. Measures are essential for creating meaningful visualizations and insights from your data.</a:t>
            </a:r>
          </a:p>
          <a:p>
            <a:r>
              <a:rPr lang="en-US" dirty="0">
                <a:latin typeface="Times New Roman" panose="02020603050405020304" pitchFamily="18" charset="0"/>
                <a:cs typeface="Times New Roman" panose="02020603050405020304" pitchFamily="18" charset="0"/>
              </a:rPr>
              <a:t>Understanding Measures</a:t>
            </a:r>
          </a:p>
          <a:p>
            <a:r>
              <a:rPr lang="en-US" b="1" dirty="0">
                <a:latin typeface="Times New Roman" panose="02020603050405020304" pitchFamily="18" charset="0"/>
                <a:cs typeface="Times New Roman" panose="02020603050405020304" pitchFamily="18" charset="0"/>
              </a:rPr>
              <a:t>Measures</a:t>
            </a:r>
            <a:r>
              <a:rPr lang="en-US" dirty="0">
                <a:latin typeface="Times New Roman" panose="02020603050405020304" pitchFamily="18" charset="0"/>
                <a:cs typeface="Times New Roman" panose="02020603050405020304" pitchFamily="18" charset="0"/>
              </a:rPr>
              <a:t> typically include:</a:t>
            </a:r>
          </a:p>
          <a:p>
            <a:r>
              <a:rPr lang="en-US" dirty="0">
                <a:latin typeface="Times New Roman" panose="02020603050405020304" pitchFamily="18" charset="0"/>
                <a:cs typeface="Times New Roman" panose="02020603050405020304" pitchFamily="18" charset="0"/>
              </a:rPr>
              <a:t>Sales amounts</a:t>
            </a:r>
          </a:p>
          <a:p>
            <a:r>
              <a:rPr lang="en-US" dirty="0">
                <a:latin typeface="Times New Roman" panose="02020603050405020304" pitchFamily="18" charset="0"/>
                <a:cs typeface="Times New Roman" panose="02020603050405020304" pitchFamily="18" charset="0"/>
              </a:rPr>
              <a:t>Profit margins</a:t>
            </a:r>
          </a:p>
          <a:p>
            <a:r>
              <a:rPr lang="en-US" dirty="0">
                <a:latin typeface="Times New Roman" panose="02020603050405020304" pitchFamily="18" charset="0"/>
                <a:cs typeface="Times New Roman" panose="02020603050405020304" pitchFamily="18" charset="0"/>
              </a:rPr>
              <a:t>Quantities</a:t>
            </a:r>
          </a:p>
          <a:p>
            <a:r>
              <a:rPr lang="en-US" dirty="0">
                <a:latin typeface="Times New Roman" panose="02020603050405020304" pitchFamily="18" charset="0"/>
                <a:cs typeface="Times New Roman" panose="02020603050405020304" pitchFamily="18" charset="0"/>
              </a:rPr>
              <a:t>Costs</a:t>
            </a:r>
          </a:p>
          <a:p>
            <a:r>
              <a:rPr lang="en-US" dirty="0">
                <a:latin typeface="Times New Roman" panose="02020603050405020304" pitchFamily="18" charset="0"/>
                <a:cs typeface="Times New Roman" panose="02020603050405020304" pitchFamily="18" charset="0"/>
              </a:rPr>
              <a:t>Any other numeric data that can be mathematically operated upon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2172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8099" y="878186"/>
            <a:ext cx="9286513" cy="5033036"/>
          </a:xfrm>
        </p:spPr>
        <p:txBody>
          <a:bodyPr/>
          <a:lstStyle/>
          <a:p>
            <a:r>
              <a:rPr lang="en-US" b="1" dirty="0">
                <a:latin typeface="Times New Roman" panose="02020603050405020304" pitchFamily="18" charset="0"/>
                <a:cs typeface="Times New Roman" panose="02020603050405020304" pitchFamily="18" charset="0"/>
              </a:rPr>
              <a:t>Types of Aggregations</a:t>
            </a:r>
          </a:p>
          <a:p>
            <a:r>
              <a:rPr lang="en-US" b="1" dirty="0">
                <a:latin typeface="Times New Roman" panose="02020603050405020304" pitchFamily="18" charset="0"/>
                <a:cs typeface="Times New Roman" panose="02020603050405020304" pitchFamily="18" charset="0"/>
              </a:rPr>
              <a:t>SUM</a:t>
            </a:r>
            <a:r>
              <a:rPr lang="en-US" dirty="0">
                <a:latin typeface="Times New Roman" panose="02020603050405020304" pitchFamily="18" charset="0"/>
                <a:cs typeface="Times New Roman" panose="02020603050405020304" pitchFamily="18" charset="0"/>
              </a:rPr>
              <a:t>: Total of all values.</a:t>
            </a:r>
          </a:p>
          <a:p>
            <a:r>
              <a:rPr lang="en-US" b="1" dirty="0">
                <a:latin typeface="Times New Roman" panose="02020603050405020304" pitchFamily="18" charset="0"/>
                <a:cs typeface="Times New Roman" panose="02020603050405020304" pitchFamily="18" charset="0"/>
              </a:rPr>
              <a:t>AVG</a:t>
            </a:r>
            <a:r>
              <a:rPr lang="en-US" dirty="0">
                <a:latin typeface="Times New Roman" panose="02020603050405020304" pitchFamily="18" charset="0"/>
                <a:cs typeface="Times New Roman" panose="02020603050405020304" pitchFamily="18" charset="0"/>
              </a:rPr>
              <a:t>: Average of all values.</a:t>
            </a:r>
          </a:p>
          <a:p>
            <a:r>
              <a:rPr lang="en-US" b="1" dirty="0">
                <a:latin typeface="Times New Roman" panose="02020603050405020304" pitchFamily="18" charset="0"/>
                <a:cs typeface="Times New Roman" panose="02020603050405020304" pitchFamily="18" charset="0"/>
              </a:rPr>
              <a:t>MEDIAN</a:t>
            </a:r>
            <a:r>
              <a:rPr lang="en-US" dirty="0">
                <a:latin typeface="Times New Roman" panose="02020603050405020304" pitchFamily="18" charset="0"/>
                <a:cs typeface="Times New Roman" panose="02020603050405020304" pitchFamily="18" charset="0"/>
              </a:rPr>
              <a:t>: Middle value in a sorted list.</a:t>
            </a:r>
          </a:p>
          <a:p>
            <a:r>
              <a:rPr lang="en-US" b="1" dirty="0">
                <a:latin typeface="Times New Roman" panose="02020603050405020304" pitchFamily="18" charset="0"/>
                <a:cs typeface="Times New Roman" panose="02020603050405020304" pitchFamily="18" charset="0"/>
              </a:rPr>
              <a:t>COUNT</a:t>
            </a:r>
            <a:r>
              <a:rPr lang="en-US" dirty="0">
                <a:latin typeface="Times New Roman" panose="02020603050405020304" pitchFamily="18" charset="0"/>
                <a:cs typeface="Times New Roman" panose="02020603050405020304" pitchFamily="18" charset="0"/>
              </a:rPr>
              <a:t>: Number of values.</a:t>
            </a:r>
          </a:p>
          <a:p>
            <a:r>
              <a:rPr lang="en-US" b="1" dirty="0">
                <a:latin typeface="Times New Roman" panose="02020603050405020304" pitchFamily="18" charset="0"/>
                <a:cs typeface="Times New Roman" panose="02020603050405020304" pitchFamily="18" charset="0"/>
              </a:rPr>
              <a:t>COUNTD</a:t>
            </a:r>
            <a:r>
              <a:rPr lang="en-US" dirty="0">
                <a:latin typeface="Times New Roman" panose="02020603050405020304" pitchFamily="18" charset="0"/>
                <a:cs typeface="Times New Roman" panose="02020603050405020304" pitchFamily="18" charset="0"/>
              </a:rPr>
              <a:t>: Number of distinct values.</a:t>
            </a:r>
          </a:p>
          <a:p>
            <a:r>
              <a:rPr lang="en-US" b="1" dirty="0">
                <a:latin typeface="Times New Roman" panose="02020603050405020304" pitchFamily="18" charset="0"/>
                <a:cs typeface="Times New Roman" panose="02020603050405020304" pitchFamily="18" charset="0"/>
              </a:rPr>
              <a:t>MIN</a:t>
            </a:r>
            <a:r>
              <a:rPr lang="en-US" dirty="0">
                <a:latin typeface="Times New Roman" panose="02020603050405020304" pitchFamily="18" charset="0"/>
                <a:cs typeface="Times New Roman" panose="02020603050405020304" pitchFamily="18" charset="0"/>
              </a:rPr>
              <a:t>: Smallest value.</a:t>
            </a:r>
          </a:p>
          <a:p>
            <a:r>
              <a:rPr lang="en-US" b="1" dirty="0">
                <a:latin typeface="Times New Roman" panose="02020603050405020304" pitchFamily="18" charset="0"/>
                <a:cs typeface="Times New Roman" panose="02020603050405020304" pitchFamily="18" charset="0"/>
              </a:rPr>
              <a:t>MAX</a:t>
            </a:r>
            <a:r>
              <a:rPr lang="en-US" dirty="0">
                <a:latin typeface="Times New Roman" panose="02020603050405020304" pitchFamily="18" charset="0"/>
                <a:cs typeface="Times New Roman" panose="02020603050405020304" pitchFamily="18" charset="0"/>
              </a:rPr>
              <a:t>: Largest value</a:t>
            </a:r>
          </a:p>
          <a:p>
            <a:r>
              <a:rPr lang="en-US" b="1" dirty="0">
                <a:latin typeface="Times New Roman" panose="02020603050405020304" pitchFamily="18" charset="0"/>
                <a:cs typeface="Times New Roman" panose="02020603050405020304" pitchFamily="18" charset="0"/>
              </a:rPr>
              <a:t>Measures </a:t>
            </a:r>
            <a:r>
              <a:rPr lang="en-US" dirty="0">
                <a:latin typeface="Times New Roman" panose="02020603050405020304" pitchFamily="18" charset="0"/>
                <a:cs typeface="Times New Roman" panose="02020603050405020304" pitchFamily="18" charset="0"/>
              </a:rPr>
              <a:t>in Tableau are the backbone of data analysis, enabling you to quantify and analyze various aspects of your data. By understanding how to effectively use and manipulate measures, you can create insightful visualizations and dashboards that drive informed decision-making. Whether using basic aggregations or complex calculated fields, measures help transform raw data into actionable insights.</a:t>
            </a:r>
          </a:p>
        </p:txBody>
      </p:sp>
    </p:spTree>
    <p:extLst>
      <p:ext uri="{BB962C8B-B14F-4D97-AF65-F5344CB8AC3E}">
        <p14:creationId xmlns:p14="http://schemas.microsoft.com/office/powerpoint/2010/main" val="3848748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067" y="624110"/>
            <a:ext cx="8911687" cy="1280890"/>
          </a:xfrm>
        </p:spPr>
        <p:txBody>
          <a:bodyPr/>
          <a:lstStyle/>
          <a:p>
            <a:r>
              <a:rPr lang="en-US" dirty="0"/>
              <a:t>Discrete vs. Continuous</a:t>
            </a:r>
          </a:p>
        </p:txBody>
      </p:sp>
      <p:sp>
        <p:nvSpPr>
          <p:cNvPr id="3" name="Content Placeholder 2"/>
          <p:cNvSpPr>
            <a:spLocks noGrp="1"/>
          </p:cNvSpPr>
          <p:nvPr>
            <p:ph idx="1"/>
          </p:nvPr>
        </p:nvSpPr>
        <p:spPr>
          <a:xfrm>
            <a:off x="1874067" y="1783533"/>
            <a:ext cx="9630545" cy="4127689"/>
          </a:xfrm>
        </p:spPr>
        <p:txBody>
          <a:bodyPr>
            <a:normAutofit/>
          </a:bodyPr>
          <a:lstStyle/>
          <a:p>
            <a:r>
              <a:rPr lang="en-US" b="1" dirty="0">
                <a:solidFill>
                  <a:schemeClr val="tx1"/>
                </a:solidFill>
              </a:rPr>
              <a:t>Discrete Data</a:t>
            </a:r>
          </a:p>
          <a:p>
            <a:r>
              <a:rPr lang="en-US" b="1" dirty="0">
                <a:solidFill>
                  <a:schemeClr val="tx1"/>
                </a:solidFill>
              </a:rPr>
              <a:t>Definition</a:t>
            </a:r>
            <a:r>
              <a:rPr lang="en-US" dirty="0">
                <a:solidFill>
                  <a:schemeClr val="tx1"/>
                </a:solidFill>
              </a:rPr>
              <a:t>: Discrete data consist of distinct and separate values. These values are often categorical and can be counted but not measured.</a:t>
            </a:r>
          </a:p>
          <a:p>
            <a:r>
              <a:rPr lang="en-US" b="1" dirty="0">
                <a:solidFill>
                  <a:schemeClr val="tx1"/>
                </a:solidFill>
              </a:rPr>
              <a:t>Representation</a:t>
            </a:r>
            <a:r>
              <a:rPr lang="en-US" dirty="0">
                <a:solidFill>
                  <a:schemeClr val="tx1"/>
                </a:solidFill>
              </a:rPr>
              <a:t>: In Tableau, discrete data fields are shown as blue pills in the Data Pane and on the shelves.</a:t>
            </a:r>
          </a:p>
          <a:p>
            <a:r>
              <a:rPr lang="en-US" b="1" dirty="0">
                <a:solidFill>
                  <a:schemeClr val="tx1"/>
                </a:solidFill>
              </a:rPr>
              <a:t>Visualization</a:t>
            </a:r>
            <a:r>
              <a:rPr lang="en-US" dirty="0">
                <a:solidFill>
                  <a:schemeClr val="tx1"/>
                </a:solidFill>
              </a:rPr>
              <a:t>: Discrete data typically create headers or labels in charts, like categories in a bar chart or points in a scatter plot.</a:t>
            </a:r>
          </a:p>
          <a:p>
            <a:r>
              <a:rPr lang="en-US" b="1" dirty="0">
                <a:solidFill>
                  <a:schemeClr val="tx1"/>
                </a:solidFill>
              </a:rPr>
              <a:t>Examples</a:t>
            </a:r>
            <a:r>
              <a:rPr lang="en-US" dirty="0">
                <a:solidFill>
                  <a:schemeClr val="tx1"/>
                </a:solidFill>
              </a:rPr>
              <a:t>:</a:t>
            </a:r>
          </a:p>
          <a:p>
            <a:pPr lvl="1"/>
            <a:r>
              <a:rPr lang="en-US" dirty="0">
                <a:solidFill>
                  <a:schemeClr val="tx1"/>
                </a:solidFill>
              </a:rPr>
              <a:t>Product categories (e.g., Furniture, Office Supplies, Technology)</a:t>
            </a:r>
          </a:p>
          <a:p>
            <a:pPr lvl="1"/>
            <a:r>
              <a:rPr lang="en-US" dirty="0">
                <a:solidFill>
                  <a:schemeClr val="tx1"/>
                </a:solidFill>
              </a:rPr>
              <a:t>Customer segments (e.g., Small Business, Corporate)</a:t>
            </a:r>
          </a:p>
          <a:p>
            <a:pPr lvl="1"/>
            <a:r>
              <a:rPr lang="en-US" dirty="0">
                <a:solidFill>
                  <a:schemeClr val="tx1"/>
                </a:solidFill>
              </a:rPr>
              <a:t>Months (e.g., January, February</a:t>
            </a:r>
          </a:p>
        </p:txBody>
      </p:sp>
    </p:spTree>
    <p:extLst>
      <p:ext uri="{BB962C8B-B14F-4D97-AF65-F5344CB8AC3E}">
        <p14:creationId xmlns:p14="http://schemas.microsoft.com/office/powerpoint/2010/main" val="1844941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273" y="624110"/>
            <a:ext cx="8911687" cy="1280890"/>
          </a:xfrm>
        </p:spPr>
        <p:txBody>
          <a:bodyPr/>
          <a:lstStyle/>
          <a:p>
            <a:r>
              <a:rPr lang="en-US" dirty="0"/>
              <a:t>Discrete vs. Continuous</a:t>
            </a:r>
          </a:p>
        </p:txBody>
      </p:sp>
      <p:sp>
        <p:nvSpPr>
          <p:cNvPr id="3" name="Content Placeholder 2"/>
          <p:cNvSpPr>
            <a:spLocks noGrp="1"/>
          </p:cNvSpPr>
          <p:nvPr>
            <p:ph idx="1"/>
          </p:nvPr>
        </p:nvSpPr>
        <p:spPr>
          <a:xfrm>
            <a:off x="1919335" y="1457608"/>
            <a:ext cx="9585277" cy="4453614"/>
          </a:xfrm>
        </p:spPr>
        <p:txBody>
          <a:bodyPr>
            <a:normAutofit/>
          </a:bodyPr>
          <a:lstStyle/>
          <a:p>
            <a:r>
              <a:rPr lang="en-US" b="1" dirty="0"/>
              <a:t>Continuous Data</a:t>
            </a:r>
          </a:p>
          <a:p>
            <a:r>
              <a:rPr lang="en-US" b="1" dirty="0"/>
              <a:t>Definition</a:t>
            </a:r>
            <a:r>
              <a:rPr lang="en-US" dirty="0"/>
              <a:t>: Continuous data represent values that fall on a continuum and can be measured but not counted. They are numeric and can take on any value within a range.</a:t>
            </a:r>
          </a:p>
          <a:p>
            <a:r>
              <a:rPr lang="en-US" b="1" dirty="0"/>
              <a:t>Representation</a:t>
            </a:r>
            <a:r>
              <a:rPr lang="en-US" dirty="0"/>
              <a:t>: In Tableau, continuous data fields are shown as green pills in the Data Pane and on the shelves.</a:t>
            </a:r>
          </a:p>
          <a:p>
            <a:r>
              <a:rPr lang="en-US" b="1" dirty="0"/>
              <a:t>Visualization</a:t>
            </a:r>
            <a:r>
              <a:rPr lang="en-US" dirty="0"/>
              <a:t>: Continuous data typically create axes in charts, like a continuous axis in a line chart or histogram.</a:t>
            </a:r>
          </a:p>
          <a:p>
            <a:r>
              <a:rPr lang="en-US" b="1" dirty="0"/>
              <a:t>Examples</a:t>
            </a:r>
            <a:r>
              <a:rPr lang="en-US" dirty="0"/>
              <a:t>:</a:t>
            </a:r>
          </a:p>
          <a:p>
            <a:pPr lvl="1"/>
            <a:r>
              <a:rPr lang="en-US" dirty="0"/>
              <a:t>Sales amounts (e.g., $1000, $5000)</a:t>
            </a:r>
          </a:p>
          <a:p>
            <a:pPr lvl="1"/>
            <a:r>
              <a:rPr lang="en-US" dirty="0"/>
              <a:t>Profit margins (e.g., 10%, 20%)</a:t>
            </a:r>
          </a:p>
          <a:p>
            <a:pPr lvl="1"/>
            <a:r>
              <a:rPr lang="en-US" dirty="0"/>
              <a:t>Dates (when treated as a continuous range)</a:t>
            </a:r>
          </a:p>
        </p:txBody>
      </p:sp>
    </p:spTree>
    <p:extLst>
      <p:ext uri="{BB962C8B-B14F-4D97-AF65-F5344CB8AC3E}">
        <p14:creationId xmlns:p14="http://schemas.microsoft.com/office/powerpoint/2010/main" val="2778312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6338"/>
          </a:xfrm>
        </p:spPr>
        <p:txBody>
          <a:bodyPr/>
          <a:lstStyle/>
          <a:p>
            <a:r>
              <a:rPr lang="en-US" dirty="0"/>
              <a:t>Measures and Dimensions</a:t>
            </a:r>
          </a:p>
        </p:txBody>
      </p:sp>
      <p:sp>
        <p:nvSpPr>
          <p:cNvPr id="3" name="Content Placeholder 2"/>
          <p:cNvSpPr>
            <a:spLocks noGrp="1"/>
          </p:cNvSpPr>
          <p:nvPr>
            <p:ph idx="1"/>
          </p:nvPr>
        </p:nvSpPr>
        <p:spPr>
          <a:xfrm>
            <a:off x="2592925" y="1430448"/>
            <a:ext cx="8915400" cy="3777622"/>
          </a:xfrm>
        </p:spPr>
        <p:txBody>
          <a:bodyPr>
            <a:normAutofit/>
          </a:bodyPr>
          <a:lstStyle/>
          <a:p>
            <a:r>
              <a:rPr lang="en-US" b="1" dirty="0"/>
              <a:t>Measures</a:t>
            </a:r>
          </a:p>
          <a:p>
            <a:r>
              <a:rPr lang="en-US" b="1" dirty="0"/>
              <a:t>Definition</a:t>
            </a:r>
            <a:r>
              <a:rPr lang="en-US" dirty="0"/>
              <a:t>: Measures are quantitative data that can be aggregated and are used for mathematical operations.</a:t>
            </a:r>
          </a:p>
          <a:p>
            <a:r>
              <a:rPr lang="en-US" b="1" dirty="0"/>
              <a:t>Usage</a:t>
            </a:r>
            <a:r>
              <a:rPr lang="en-US" dirty="0"/>
              <a:t>: Measures are typically analyzed numerically, such as summing sales or averaging profits.</a:t>
            </a:r>
          </a:p>
          <a:p>
            <a:r>
              <a:rPr lang="en-US" b="1" dirty="0"/>
              <a:t>Examples</a:t>
            </a:r>
            <a:r>
              <a:rPr lang="en-US" dirty="0"/>
              <a:t>:</a:t>
            </a:r>
          </a:p>
          <a:p>
            <a:r>
              <a:rPr lang="en-US" dirty="0"/>
              <a:t>Sales</a:t>
            </a:r>
          </a:p>
          <a:p>
            <a:r>
              <a:rPr lang="en-US" dirty="0"/>
              <a:t>Profit</a:t>
            </a:r>
          </a:p>
          <a:p>
            <a:r>
              <a:rPr lang="en-US" dirty="0"/>
              <a:t>Quantity</a:t>
            </a:r>
          </a:p>
          <a:p>
            <a:r>
              <a:rPr lang="en-US" dirty="0"/>
              <a:t>Discount</a:t>
            </a:r>
          </a:p>
        </p:txBody>
      </p:sp>
    </p:spTree>
    <p:extLst>
      <p:ext uri="{BB962C8B-B14F-4D97-AF65-F5344CB8AC3E}">
        <p14:creationId xmlns:p14="http://schemas.microsoft.com/office/powerpoint/2010/main" val="1419799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61482"/>
          </a:xfrm>
        </p:spPr>
        <p:txBody>
          <a:bodyPr>
            <a:normAutofit fontScale="90000"/>
          </a:bodyPr>
          <a:lstStyle/>
          <a:p>
            <a:r>
              <a:rPr lang="en-US" dirty="0"/>
              <a:t>Measures and Dimensions</a:t>
            </a:r>
            <a:br>
              <a:rPr lang="en-US" dirty="0"/>
            </a:br>
            <a:endParaRPr lang="en-US" dirty="0"/>
          </a:p>
        </p:txBody>
      </p:sp>
      <p:sp>
        <p:nvSpPr>
          <p:cNvPr id="3" name="Content Placeholder 2"/>
          <p:cNvSpPr>
            <a:spLocks noGrp="1"/>
          </p:cNvSpPr>
          <p:nvPr>
            <p:ph idx="1"/>
          </p:nvPr>
        </p:nvSpPr>
        <p:spPr>
          <a:xfrm>
            <a:off x="2589212" y="1355002"/>
            <a:ext cx="8915400" cy="3777622"/>
          </a:xfrm>
        </p:spPr>
        <p:txBody>
          <a:bodyPr/>
          <a:lstStyle/>
          <a:p>
            <a:r>
              <a:rPr lang="en-US" b="1" dirty="0"/>
              <a:t>Dimensions</a:t>
            </a:r>
          </a:p>
          <a:p>
            <a:r>
              <a:rPr lang="en-US" b="1" dirty="0"/>
              <a:t>Definition</a:t>
            </a:r>
            <a:r>
              <a:rPr lang="en-US" dirty="0"/>
              <a:t>: Dimensions are qualitative data that provide context for measures. They are used to segment data.</a:t>
            </a:r>
          </a:p>
          <a:p>
            <a:r>
              <a:rPr lang="en-US" b="1" dirty="0"/>
              <a:t>Usage</a:t>
            </a:r>
            <a:r>
              <a:rPr lang="en-US" dirty="0"/>
              <a:t>: Dimensions are often used to slice and dice the data, providing categories for analysis.</a:t>
            </a:r>
          </a:p>
          <a:p>
            <a:r>
              <a:rPr lang="en-US" b="1" dirty="0"/>
              <a:t>Examples</a:t>
            </a:r>
            <a:r>
              <a:rPr lang="en-US" dirty="0"/>
              <a:t>:</a:t>
            </a:r>
          </a:p>
          <a:p>
            <a:r>
              <a:rPr lang="en-US" dirty="0"/>
              <a:t>Product Name</a:t>
            </a:r>
          </a:p>
          <a:p>
            <a:r>
              <a:rPr lang="en-US" dirty="0"/>
              <a:t>Customer Segment</a:t>
            </a:r>
          </a:p>
          <a:p>
            <a:r>
              <a:rPr lang="en-US" dirty="0"/>
              <a:t>Region</a:t>
            </a:r>
          </a:p>
          <a:p>
            <a:r>
              <a:rPr lang="en-US" dirty="0"/>
              <a:t>Order Date</a:t>
            </a:r>
          </a:p>
        </p:txBody>
      </p:sp>
    </p:spTree>
    <p:extLst>
      <p:ext uri="{BB962C8B-B14F-4D97-AF65-F5344CB8AC3E}">
        <p14:creationId xmlns:p14="http://schemas.microsoft.com/office/powerpoint/2010/main" val="1750134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046" y="406827"/>
            <a:ext cx="8911687" cy="1280890"/>
          </a:xfrm>
        </p:spPr>
        <p:txBody>
          <a:bodyPr/>
          <a:lstStyle/>
          <a:p>
            <a:r>
              <a:rPr lang="en-US" dirty="0"/>
              <a:t>Parameters and Sets </a:t>
            </a:r>
          </a:p>
        </p:txBody>
      </p:sp>
      <p:sp>
        <p:nvSpPr>
          <p:cNvPr id="3" name="Content Placeholder 2"/>
          <p:cNvSpPr>
            <a:spLocks noGrp="1"/>
          </p:cNvSpPr>
          <p:nvPr>
            <p:ph idx="1"/>
          </p:nvPr>
        </p:nvSpPr>
        <p:spPr>
          <a:xfrm>
            <a:off x="2209046" y="1312752"/>
            <a:ext cx="9295566" cy="4598470"/>
          </a:xfrm>
        </p:spPr>
        <p:txBody>
          <a:bodyPr/>
          <a:lstStyle/>
          <a:p>
            <a:r>
              <a:rPr lang="en-US" dirty="0"/>
              <a:t>Parameters and sets are powerful features in Tableau that enhance interactivity and flexibility in your data visualizations. They allow users to dynamically change the view and filter data based on specific conditions.</a:t>
            </a:r>
          </a:p>
          <a:p>
            <a:r>
              <a:rPr lang="en-US" b="1" dirty="0"/>
              <a:t>Parameters</a:t>
            </a:r>
          </a:p>
          <a:p>
            <a:r>
              <a:rPr lang="en-US" dirty="0"/>
              <a:t>Parameters are dynamic values that can be used to control various aspects of a Tableau visualization. They can be integers, floats, dates, strings, or even Boolean values. Parameters are single-valued and user-driven, meaning the user can select or input a value, and that value can be used to modify calculations, filters, reference lines, and more.</a:t>
            </a:r>
          </a:p>
          <a:p>
            <a:r>
              <a:rPr lang="en-US" b="1" dirty="0"/>
              <a:t>Sets</a:t>
            </a:r>
          </a:p>
          <a:p>
            <a:r>
              <a:rPr lang="en-US" dirty="0"/>
              <a:t>Definition</a:t>
            </a:r>
          </a:p>
          <a:p>
            <a:r>
              <a:rPr lang="en-US" dirty="0"/>
              <a:t>Sets are custom fields that define a subset of your data based on specific conditions. They can be static (fixed) or dynamic (computed), allowing for flexible data segmentation and analysis.</a:t>
            </a:r>
          </a:p>
          <a:p>
            <a:endParaRPr lang="en-US" dirty="0"/>
          </a:p>
        </p:txBody>
      </p:sp>
    </p:spTree>
    <p:extLst>
      <p:ext uri="{BB962C8B-B14F-4D97-AF65-F5344CB8AC3E}">
        <p14:creationId xmlns:p14="http://schemas.microsoft.com/office/powerpoint/2010/main" val="3195296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3698" y="666938"/>
            <a:ext cx="9859303" cy="6005465"/>
          </a:xfrm>
        </p:spPr>
        <p:txBody>
          <a:bodyPr>
            <a:normAutofit/>
          </a:bodyPr>
          <a:lstStyle/>
          <a:p>
            <a:r>
              <a:rPr lang="en-US" b="1" dirty="0"/>
              <a:t>Uses of Parameters</a:t>
            </a:r>
          </a:p>
          <a:p>
            <a:r>
              <a:rPr lang="en-US" b="1" dirty="0"/>
              <a:t>Filtering Data</a:t>
            </a:r>
            <a:r>
              <a:rPr lang="en-US" dirty="0"/>
              <a:t>: Create dynamic filters that change based on parameter values.</a:t>
            </a:r>
          </a:p>
          <a:p>
            <a:r>
              <a:rPr lang="en-US" b="1" dirty="0"/>
              <a:t>Calculations</a:t>
            </a:r>
            <a:r>
              <a:rPr lang="en-US" dirty="0"/>
              <a:t>: Use parameters in calculated fields to change the logic dynamically.</a:t>
            </a:r>
          </a:p>
          <a:p>
            <a:r>
              <a:rPr lang="en-US" b="1" dirty="0"/>
              <a:t>Reference Lines</a:t>
            </a:r>
            <a:r>
              <a:rPr lang="en-US" dirty="0"/>
              <a:t>: Adjust reference lines based on parameter values.</a:t>
            </a:r>
          </a:p>
          <a:p>
            <a:r>
              <a:rPr lang="en-US" b="1" dirty="0"/>
              <a:t>Top N Analysis</a:t>
            </a:r>
            <a:r>
              <a:rPr lang="en-US" dirty="0"/>
              <a:t>: Display the top N items, where N is determined by the parameter value.</a:t>
            </a:r>
          </a:p>
          <a:p>
            <a:pPr marL="0" indent="0">
              <a:buNone/>
            </a:pPr>
            <a:endParaRPr lang="en-US" dirty="0"/>
          </a:p>
          <a:p>
            <a:r>
              <a:rPr lang="en-US" b="1" dirty="0"/>
              <a:t>Uses of Sets</a:t>
            </a:r>
          </a:p>
          <a:p>
            <a:r>
              <a:rPr lang="en-US" b="1" dirty="0"/>
              <a:t>Filtering Data</a:t>
            </a:r>
            <a:r>
              <a:rPr lang="en-US" dirty="0"/>
              <a:t>: Use sets to include or exclude specific data points.</a:t>
            </a:r>
          </a:p>
          <a:p>
            <a:r>
              <a:rPr lang="en-US" b="1" dirty="0"/>
              <a:t>Comparisons</a:t>
            </a:r>
            <a:r>
              <a:rPr lang="en-US" dirty="0"/>
              <a:t>: Compare members of a set against the rest of the data.</a:t>
            </a:r>
          </a:p>
          <a:p>
            <a:r>
              <a:rPr lang="en-US" b="1" dirty="0"/>
              <a:t>Highlighting</a:t>
            </a:r>
            <a:r>
              <a:rPr lang="en-US" dirty="0"/>
              <a:t>: Highlight specific data points within a visualization.</a:t>
            </a:r>
          </a:p>
          <a:p>
            <a:r>
              <a:rPr lang="en-US" b="1" dirty="0"/>
              <a:t>Conditional Formatting</a:t>
            </a:r>
            <a:r>
              <a:rPr lang="en-US" dirty="0"/>
              <a:t>: Apply different formatting or calculations based on set membership.</a:t>
            </a:r>
          </a:p>
          <a:p>
            <a:r>
              <a:rPr lang="en-US" b="1" dirty="0"/>
              <a:t>Top N Analysis</a:t>
            </a:r>
            <a:r>
              <a:rPr lang="en-US" dirty="0"/>
              <a:t>: Identify top or bottom performers based on a measure.</a:t>
            </a:r>
          </a:p>
          <a:p>
            <a:endParaRPr lang="en-US" dirty="0"/>
          </a:p>
        </p:txBody>
      </p:sp>
    </p:spTree>
    <p:extLst>
      <p:ext uri="{BB962C8B-B14F-4D97-AF65-F5344CB8AC3E}">
        <p14:creationId xmlns:p14="http://schemas.microsoft.com/office/powerpoint/2010/main" val="1519637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762" y="651270"/>
            <a:ext cx="8911687" cy="1280890"/>
          </a:xfrm>
        </p:spPr>
        <p:txBody>
          <a:bodyPr/>
          <a:lstStyle/>
          <a:p>
            <a:r>
              <a:rPr lang="en-US" dirty="0"/>
              <a:t>Combined Fields:</a:t>
            </a:r>
          </a:p>
        </p:txBody>
      </p:sp>
      <p:sp>
        <p:nvSpPr>
          <p:cNvPr id="3" name="Content Placeholder 2"/>
          <p:cNvSpPr>
            <a:spLocks noGrp="1"/>
          </p:cNvSpPr>
          <p:nvPr>
            <p:ph idx="1"/>
          </p:nvPr>
        </p:nvSpPr>
        <p:spPr>
          <a:xfrm>
            <a:off x="1991762" y="1683945"/>
            <a:ext cx="9512850" cy="4227277"/>
          </a:xfrm>
        </p:spPr>
        <p:txBody>
          <a:bodyPr/>
          <a:lstStyle/>
          <a:p>
            <a:r>
              <a:rPr lang="en-US" dirty="0"/>
              <a:t>Combined fields (or compound keys) are used to create a single field that combines two or more fields. This can be helpful when you need a unique identifier that spans multiple fields.</a:t>
            </a:r>
          </a:p>
          <a:p>
            <a:endParaRPr lang="en-US" dirty="0"/>
          </a:p>
        </p:txBody>
      </p:sp>
    </p:spTree>
    <p:extLst>
      <p:ext uri="{BB962C8B-B14F-4D97-AF65-F5344CB8AC3E}">
        <p14:creationId xmlns:p14="http://schemas.microsoft.com/office/powerpoint/2010/main" val="3567094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Title</a:t>
            </a:r>
          </a:p>
        </p:txBody>
      </p:sp>
      <p:sp>
        <p:nvSpPr>
          <p:cNvPr id="3" name="Content Placeholder 2"/>
          <p:cNvSpPr>
            <a:spLocks noGrp="1"/>
          </p:cNvSpPr>
          <p:nvPr>
            <p:ph idx="1"/>
          </p:nvPr>
        </p:nvSpPr>
        <p:spPr/>
        <p:txBody>
          <a:bodyPr/>
          <a:lstStyle/>
          <a:p>
            <a:r>
              <a:rPr lang="en-US" b="1" dirty="0"/>
              <a:t>Definition</a:t>
            </a:r>
            <a:r>
              <a:rPr lang="en-US" dirty="0"/>
              <a:t>: A title is the heading that appears at the top of a worksheet or dashboard. It gives an immediate context or summary of the content being displayed.</a:t>
            </a:r>
          </a:p>
          <a:p>
            <a:r>
              <a:rPr lang="en-US" b="1" dirty="0"/>
              <a:t>Uses</a:t>
            </a:r>
            <a:r>
              <a:rPr lang="en-US" dirty="0"/>
              <a:t>:</a:t>
            </a:r>
          </a:p>
          <a:p>
            <a:r>
              <a:rPr lang="en-US" dirty="0"/>
              <a:t>To provide a clear, descriptive name for the visualization or dashboard.</a:t>
            </a:r>
          </a:p>
          <a:p>
            <a:r>
              <a:rPr lang="en-US" dirty="0"/>
              <a:t>To give viewers an immediate understanding of what the chart or dashboard is about.</a:t>
            </a:r>
          </a:p>
          <a:p>
            <a:r>
              <a:rPr lang="en-US" dirty="0"/>
              <a:t>To include important information such as the data source, date range, or key metrics.</a:t>
            </a:r>
          </a:p>
          <a:p>
            <a:endParaRPr lang="en-US" dirty="0"/>
          </a:p>
        </p:txBody>
      </p:sp>
    </p:spTree>
    <p:extLst>
      <p:ext uri="{BB962C8B-B14F-4D97-AF65-F5344CB8AC3E}">
        <p14:creationId xmlns:p14="http://schemas.microsoft.com/office/powerpoint/2010/main" val="4173673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Caption</a:t>
            </a:r>
          </a:p>
        </p:txBody>
      </p:sp>
      <p:sp>
        <p:nvSpPr>
          <p:cNvPr id="3" name="Content Placeholder 2"/>
          <p:cNvSpPr>
            <a:spLocks noGrp="1"/>
          </p:cNvSpPr>
          <p:nvPr>
            <p:ph idx="1"/>
          </p:nvPr>
        </p:nvSpPr>
        <p:spPr/>
        <p:txBody>
          <a:bodyPr>
            <a:normAutofit lnSpcReduction="10000"/>
          </a:bodyPr>
          <a:lstStyle/>
          <a:p>
            <a:r>
              <a:rPr lang="en-US" b="1" dirty="0"/>
              <a:t>Definition</a:t>
            </a:r>
            <a:r>
              <a:rPr lang="en-US" dirty="0"/>
              <a:t>: A caption is a text element that appears at the bottom of a worksheet or dashboard. It provides additional information, explanations, or context that might not be immediately evident from the visualization itself.</a:t>
            </a:r>
          </a:p>
          <a:p>
            <a:endParaRPr lang="en-US" dirty="0"/>
          </a:p>
          <a:p>
            <a:r>
              <a:rPr lang="en-US" b="1" dirty="0"/>
              <a:t>Uses</a:t>
            </a:r>
            <a:r>
              <a:rPr lang="en-US" dirty="0"/>
              <a:t>:</a:t>
            </a:r>
          </a:p>
          <a:p>
            <a:r>
              <a:rPr lang="en-US" dirty="0"/>
              <a:t>To provide detailed descriptions or explanations of the data being presented.</a:t>
            </a:r>
          </a:p>
          <a:p>
            <a:r>
              <a:rPr lang="en-US" dirty="0"/>
              <a:t>To include notes about data sources, methodology, or any assumptions made in the analysis.</a:t>
            </a:r>
          </a:p>
          <a:p>
            <a:r>
              <a:rPr lang="en-US" dirty="0"/>
              <a:t>To give credit or reference to external data sources.</a:t>
            </a:r>
          </a:p>
          <a:p>
            <a:r>
              <a:rPr lang="en-US" dirty="0"/>
              <a:t>To highlight important findings or insights that viewers should take note of.</a:t>
            </a:r>
          </a:p>
          <a:p>
            <a:endParaRPr lang="en-US" dirty="0"/>
          </a:p>
        </p:txBody>
      </p:sp>
    </p:spTree>
    <p:extLst>
      <p:ext uri="{BB962C8B-B14F-4D97-AF65-F5344CB8AC3E}">
        <p14:creationId xmlns:p14="http://schemas.microsoft.com/office/powerpoint/2010/main" val="1389516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 options </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1. Save </a:t>
            </a:r>
          </a:p>
          <a:p>
            <a:pPr marL="0" indent="0">
              <a:buNone/>
            </a:pPr>
            <a:r>
              <a:rPr lang="en-US" dirty="0"/>
              <a:t>2. Pdf </a:t>
            </a:r>
          </a:p>
          <a:p>
            <a:pPr marL="0" indent="0">
              <a:buNone/>
            </a:pPr>
            <a:r>
              <a:rPr lang="en-US" dirty="0"/>
              <a:t>3. Image </a:t>
            </a:r>
          </a:p>
          <a:p>
            <a:pPr marL="0" indent="0">
              <a:buNone/>
            </a:pPr>
            <a:r>
              <a:rPr lang="en-US" dirty="0"/>
              <a:t>4. Data file</a:t>
            </a:r>
          </a:p>
          <a:p>
            <a:pPr marL="0" indent="0">
              <a:buNone/>
            </a:pPr>
            <a:r>
              <a:rPr lang="en-US" dirty="0"/>
              <a:t>5. To excel</a:t>
            </a:r>
          </a:p>
          <a:p>
            <a:pPr marL="0" indent="0">
              <a:buNone/>
            </a:pPr>
            <a:r>
              <a:rPr lang="en-US" dirty="0"/>
              <a:t>6.Copy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08977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Granularity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Granularity</a:t>
            </a:r>
            <a:r>
              <a:rPr lang="en-US" dirty="0">
                <a:latin typeface="Times New Roman" panose="02020603050405020304" pitchFamily="18" charset="0"/>
                <a:cs typeface="Times New Roman" panose="02020603050405020304" pitchFamily="18" charset="0"/>
              </a:rPr>
              <a:t> in Tableau (and data analysis in general) refers to the level of detail or specificity of the data being analyzed. It determines how detailed or summarized the data points are in your visualization.</a:t>
            </a:r>
          </a:p>
          <a:p>
            <a:r>
              <a:rPr lang="en-US" b="1" dirty="0">
                <a:latin typeface="Times New Roman" panose="02020603050405020304" pitchFamily="18" charset="0"/>
                <a:cs typeface="Times New Roman" panose="02020603050405020304" pitchFamily="18" charset="0"/>
              </a:rPr>
              <a:t>Understanding Granularity</a:t>
            </a:r>
          </a:p>
          <a:p>
            <a:r>
              <a:rPr lang="en-US" b="1" dirty="0">
                <a:latin typeface="Times New Roman" panose="02020603050405020304" pitchFamily="18" charset="0"/>
                <a:cs typeface="Times New Roman" panose="02020603050405020304" pitchFamily="18" charset="0"/>
              </a:rPr>
              <a:t>High Granularity</a:t>
            </a:r>
            <a:r>
              <a:rPr lang="en-US" dirty="0">
                <a:latin typeface="Times New Roman" panose="02020603050405020304" pitchFamily="18" charset="0"/>
                <a:cs typeface="Times New Roman" panose="02020603050405020304" pitchFamily="18" charset="0"/>
              </a:rPr>
              <a:t>: This means the data is very detailed. For example, if your data includes individual sales transactions, each row might represent a single sale, including the exact date and time, the specific product sold, and the customer who bought it.</a:t>
            </a:r>
          </a:p>
          <a:p>
            <a:r>
              <a:rPr lang="en-US" b="1" dirty="0">
                <a:latin typeface="Times New Roman" panose="02020603050405020304" pitchFamily="18" charset="0"/>
                <a:cs typeface="Times New Roman" panose="02020603050405020304" pitchFamily="18" charset="0"/>
              </a:rPr>
              <a:t>Low Granularity</a:t>
            </a:r>
            <a:r>
              <a:rPr lang="en-US" dirty="0">
                <a:latin typeface="Times New Roman" panose="02020603050405020304" pitchFamily="18" charset="0"/>
                <a:cs typeface="Times New Roman" panose="02020603050405020304" pitchFamily="18" charset="0"/>
              </a:rPr>
              <a:t>: This means the data is more summarized. For example, if you aggregate sales data by month, each row might represent the total sales for a specific month, regardless of the specific transactions.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5390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Filters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General  (checking out exclude)</a:t>
            </a:r>
          </a:p>
          <a:p>
            <a:r>
              <a:rPr lang="en-US" dirty="0">
                <a:latin typeface="Times New Roman" panose="02020603050405020304" pitchFamily="18" charset="0"/>
                <a:cs typeface="Times New Roman" panose="02020603050405020304" pitchFamily="18" charset="0"/>
              </a:rPr>
              <a:t>Wildcard</a:t>
            </a:r>
          </a:p>
          <a:p>
            <a:r>
              <a:rPr lang="en-US" dirty="0">
                <a:latin typeface="Times New Roman" panose="02020603050405020304" pitchFamily="18" charset="0"/>
                <a:cs typeface="Times New Roman" panose="02020603050405020304" pitchFamily="18" charset="0"/>
              </a:rPr>
              <a:t>Conditional</a:t>
            </a:r>
          </a:p>
          <a:p>
            <a:r>
              <a:rPr lang="en-US" dirty="0">
                <a:latin typeface="Times New Roman" panose="02020603050405020304" pitchFamily="18" charset="0"/>
                <a:cs typeface="Times New Roman" panose="02020603050405020304" pitchFamily="18" charset="0"/>
              </a:rPr>
              <a:t>Top</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848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2709" y="651850"/>
            <a:ext cx="9521903" cy="1253150"/>
          </a:xfrm>
        </p:spPr>
        <p:txBody>
          <a:bodyPr/>
          <a:lstStyle/>
          <a:p>
            <a:r>
              <a:rPr lang="en-US" dirty="0">
                <a:latin typeface="Times New Roman" panose="02020603050405020304" pitchFamily="18" charset="0"/>
                <a:cs typeface="Times New Roman" panose="02020603050405020304" pitchFamily="18" charset="0"/>
              </a:rPr>
              <a:t>Charts</a:t>
            </a:r>
          </a:p>
        </p:txBody>
      </p:sp>
      <p:sp>
        <p:nvSpPr>
          <p:cNvPr id="3" name="Content Placeholder 2"/>
          <p:cNvSpPr>
            <a:spLocks noGrp="1"/>
          </p:cNvSpPr>
          <p:nvPr>
            <p:ph idx="1"/>
          </p:nvPr>
        </p:nvSpPr>
        <p:spPr>
          <a:xfrm>
            <a:off x="1919335" y="1611517"/>
            <a:ext cx="9585277" cy="4299705"/>
          </a:xfrm>
        </p:spPr>
        <p:txBody>
          <a:bodyPr/>
          <a:lstStyle/>
          <a:p>
            <a:r>
              <a:rPr lang="en-US" dirty="0">
                <a:latin typeface="Times New Roman" panose="02020603050405020304" pitchFamily="18" charset="0"/>
                <a:cs typeface="Times New Roman" panose="02020603050405020304" pitchFamily="18" charset="0"/>
              </a:rPr>
              <a:t>Charts in Tableau are visual representations of data that help users to understand and analyze patterns, trends, and relationships within the data. Tableau offers a wide variety of chart types, each suited to different kinds of data and analysis needs. </a:t>
            </a:r>
          </a:p>
          <a:p>
            <a:r>
              <a:rPr lang="en-US" dirty="0">
                <a:latin typeface="Times New Roman" panose="02020603050405020304" pitchFamily="18" charset="0"/>
                <a:cs typeface="Times New Roman" panose="02020603050405020304" pitchFamily="18" charset="0"/>
              </a:rPr>
              <a:t>Bar Chart</a:t>
            </a:r>
          </a:p>
          <a:p>
            <a:r>
              <a:rPr lang="en-US" dirty="0">
                <a:latin typeface="Times New Roman" panose="02020603050405020304" pitchFamily="18" charset="0"/>
                <a:cs typeface="Times New Roman" panose="02020603050405020304" pitchFamily="18" charset="0"/>
              </a:rPr>
              <a:t>Line Chart</a:t>
            </a:r>
          </a:p>
          <a:p>
            <a:r>
              <a:rPr lang="en-US" dirty="0">
                <a:latin typeface="Times New Roman" panose="02020603050405020304" pitchFamily="18" charset="0"/>
                <a:cs typeface="Times New Roman" panose="02020603050405020304" pitchFamily="18" charset="0"/>
              </a:rPr>
              <a:t>Pie Chart</a:t>
            </a:r>
          </a:p>
          <a:p>
            <a:r>
              <a:rPr lang="en-US" dirty="0">
                <a:latin typeface="Times New Roman" panose="02020603050405020304" pitchFamily="18" charset="0"/>
                <a:cs typeface="Times New Roman" panose="02020603050405020304" pitchFamily="18" charset="0"/>
              </a:rPr>
              <a:t>Scatter Plot</a:t>
            </a:r>
          </a:p>
          <a:p>
            <a:r>
              <a:rPr lang="en-US" dirty="0">
                <a:latin typeface="Times New Roman" panose="02020603050405020304" pitchFamily="18" charset="0"/>
                <a:cs typeface="Times New Roman" panose="02020603050405020304" pitchFamily="18" charset="0"/>
              </a:rPr>
              <a:t>Area Chart</a:t>
            </a:r>
          </a:p>
          <a:p>
            <a:r>
              <a:rPr lang="en-US" dirty="0">
                <a:latin typeface="Times New Roman" panose="02020603050405020304" pitchFamily="18" charset="0"/>
                <a:cs typeface="Times New Roman" panose="02020603050405020304" pitchFamily="18" charset="0"/>
              </a:rPr>
              <a:t>Map</a:t>
            </a:r>
          </a:p>
          <a:p>
            <a:r>
              <a:rPr lang="en-US" dirty="0">
                <a:latin typeface="Times New Roman" panose="02020603050405020304" pitchFamily="18" charset="0"/>
                <a:cs typeface="Times New Roman" panose="02020603050405020304" pitchFamily="18" charset="0"/>
              </a:rPr>
              <a:t>Histogram</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181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463" y="569789"/>
            <a:ext cx="8911687" cy="1280890"/>
          </a:xfrm>
        </p:spPr>
        <p:txBody>
          <a:bodyPr/>
          <a:lstStyle/>
          <a:p>
            <a:r>
              <a:rPr lang="en-US" dirty="0">
                <a:latin typeface="Times New Roman" panose="02020603050405020304" pitchFamily="18" charset="0"/>
                <a:cs typeface="Times New Roman" panose="02020603050405020304" pitchFamily="18" charset="0"/>
              </a:rPr>
              <a:t>Bar graph</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02463" y="1448554"/>
            <a:ext cx="9721079" cy="4444561"/>
          </a:xfrm>
        </p:spPr>
        <p:txBody>
          <a:bodyPr/>
          <a:lstStyle/>
          <a:p>
            <a:r>
              <a:rPr lang="en-US" dirty="0">
                <a:latin typeface="Times New Roman" panose="02020603050405020304" pitchFamily="18" charset="0"/>
                <a:cs typeface="Times New Roman" panose="02020603050405020304" pitchFamily="18" charset="0"/>
              </a:rPr>
              <a:t>Description: Displays data as rectangular bars with lengths proportional to the values they represent.</a:t>
            </a:r>
          </a:p>
          <a:p>
            <a:r>
              <a:rPr lang="en-US" dirty="0">
                <a:latin typeface="Times New Roman" panose="02020603050405020304" pitchFamily="18" charset="0"/>
                <a:cs typeface="Times New Roman" panose="02020603050405020304" pitchFamily="18" charset="0"/>
              </a:rPr>
              <a:t>Uses: Comparing categorical data, ranking, showing individual item values.</a:t>
            </a:r>
          </a:p>
          <a:p>
            <a:r>
              <a:rPr lang="en-US" dirty="0">
                <a:latin typeface="Times New Roman" panose="02020603050405020304" pitchFamily="18" charset="0"/>
                <a:cs typeface="Times New Roman" panose="02020603050405020304" pitchFamily="18" charset="0"/>
              </a:rPr>
              <a:t>Example: Comparing sales figures across different regions.</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dimension (e.g., Category) to the Rows shelf.</a:t>
            </a:r>
          </a:p>
          <a:p>
            <a:r>
              <a:rPr lang="en-US" dirty="0">
                <a:latin typeface="Times New Roman" panose="02020603050405020304" pitchFamily="18" charset="0"/>
                <a:cs typeface="Times New Roman" panose="02020603050405020304" pitchFamily="18" charset="0"/>
              </a:rPr>
              <a:t>Drag a measure (e.g., Sales) to the Columns shelf.</a:t>
            </a:r>
          </a:p>
          <a:p>
            <a:r>
              <a:rPr lang="en-US" dirty="0">
                <a:latin typeface="Times New Roman" panose="02020603050405020304" pitchFamily="18" charset="0"/>
                <a:cs typeface="Times New Roman" panose="02020603050405020304" pitchFamily="18" charset="0"/>
              </a:rPr>
              <a:t>Tableau automatically creates a bar chart.</a:t>
            </a:r>
          </a:p>
        </p:txBody>
      </p:sp>
      <p:pic>
        <p:nvPicPr>
          <p:cNvPr id="5" name="Picture 4"/>
          <p:cNvPicPr>
            <a:picLocks noChangeAspect="1"/>
          </p:cNvPicPr>
          <p:nvPr/>
        </p:nvPicPr>
        <p:blipFill>
          <a:blip r:embed="rId2"/>
          <a:stretch>
            <a:fillRect/>
          </a:stretch>
        </p:blipFill>
        <p:spPr>
          <a:xfrm>
            <a:off x="7955127" y="2283361"/>
            <a:ext cx="4013406" cy="4826248"/>
          </a:xfrm>
          <a:prstGeom prst="rect">
            <a:avLst/>
          </a:prstGeom>
        </p:spPr>
      </p:pic>
    </p:spTree>
    <p:extLst>
      <p:ext uri="{BB962C8B-B14F-4D97-AF65-F5344CB8AC3E}">
        <p14:creationId xmlns:p14="http://schemas.microsoft.com/office/powerpoint/2010/main" val="2396643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060" y="587896"/>
            <a:ext cx="8911687" cy="1280890"/>
          </a:xfrm>
        </p:spPr>
        <p:txBody>
          <a:bodyPr/>
          <a:lstStyle/>
          <a:p>
            <a:r>
              <a:rPr lang="en-US" dirty="0">
                <a:latin typeface="Times New Roman" panose="02020603050405020304" pitchFamily="18" charset="0"/>
                <a:cs typeface="Times New Roman" panose="02020603050405020304" pitchFamily="18" charset="0"/>
              </a:rPr>
              <a:t>Line Chart</a:t>
            </a:r>
          </a:p>
        </p:txBody>
      </p:sp>
      <p:sp>
        <p:nvSpPr>
          <p:cNvPr id="3" name="Content Placeholder 2"/>
          <p:cNvSpPr>
            <a:spLocks noGrp="1"/>
          </p:cNvSpPr>
          <p:nvPr>
            <p:ph idx="1"/>
          </p:nvPr>
        </p:nvSpPr>
        <p:spPr>
          <a:xfrm>
            <a:off x="1765347" y="992863"/>
            <a:ext cx="8915400" cy="3777622"/>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Description: Displays data points connected by lines, often used to show trends over time.</a:t>
            </a:r>
          </a:p>
          <a:p>
            <a:r>
              <a:rPr lang="en-US" dirty="0">
                <a:latin typeface="Times New Roman" panose="02020603050405020304" pitchFamily="18" charset="0"/>
                <a:cs typeface="Times New Roman" panose="02020603050405020304" pitchFamily="18" charset="0"/>
              </a:rPr>
              <a:t>Uses: Trend analysis, time series data.</a:t>
            </a:r>
          </a:p>
          <a:p>
            <a:r>
              <a:rPr lang="en-US" dirty="0">
                <a:latin typeface="Times New Roman" panose="02020603050405020304" pitchFamily="18" charset="0"/>
                <a:cs typeface="Times New Roman" panose="02020603050405020304" pitchFamily="18" charset="0"/>
              </a:rPr>
              <a:t>Example: Showing monthly sales trends over a year.</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date dimension (e.g., Order Date) to the Columns shelf.</a:t>
            </a:r>
          </a:p>
          <a:p>
            <a:r>
              <a:rPr lang="en-US" dirty="0">
                <a:latin typeface="Times New Roman" panose="02020603050405020304" pitchFamily="18" charset="0"/>
                <a:cs typeface="Times New Roman" panose="02020603050405020304" pitchFamily="18" charset="0"/>
              </a:rPr>
              <a:t>Drag a measure (e.g., Sales) to the Rows shelf.</a:t>
            </a:r>
          </a:p>
          <a:p>
            <a:r>
              <a:rPr lang="en-US" dirty="0">
                <a:latin typeface="Times New Roman" panose="02020603050405020304" pitchFamily="18" charset="0"/>
                <a:cs typeface="Times New Roman" panose="02020603050405020304" pitchFamily="18" charset="0"/>
              </a:rPr>
              <a:t>Tableau automatically creates a line chart.</a:t>
            </a:r>
          </a:p>
        </p:txBody>
      </p:sp>
      <p:pic>
        <p:nvPicPr>
          <p:cNvPr id="4" name="Picture 3"/>
          <p:cNvPicPr>
            <a:picLocks noChangeAspect="1"/>
          </p:cNvPicPr>
          <p:nvPr/>
        </p:nvPicPr>
        <p:blipFill>
          <a:blip r:embed="rId2"/>
          <a:stretch>
            <a:fillRect/>
          </a:stretch>
        </p:blipFill>
        <p:spPr>
          <a:xfrm>
            <a:off x="8446547" y="1785421"/>
            <a:ext cx="3302170" cy="4826248"/>
          </a:xfrm>
          <a:prstGeom prst="rect">
            <a:avLst/>
          </a:prstGeom>
        </p:spPr>
      </p:pic>
    </p:spTree>
    <p:extLst>
      <p:ext uri="{BB962C8B-B14F-4D97-AF65-F5344CB8AC3E}">
        <p14:creationId xmlns:p14="http://schemas.microsoft.com/office/powerpoint/2010/main" val="3514569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347" y="587896"/>
            <a:ext cx="8911687" cy="1280890"/>
          </a:xfrm>
        </p:spPr>
        <p:txBody>
          <a:bodyPr/>
          <a:lstStyle/>
          <a:p>
            <a:r>
              <a:rPr lang="en-US" dirty="0">
                <a:latin typeface="Times New Roman" panose="02020603050405020304" pitchFamily="18" charset="0"/>
                <a:cs typeface="Times New Roman" panose="02020603050405020304" pitchFamily="18" charset="0"/>
              </a:rPr>
              <a:t>Pie Chart</a:t>
            </a:r>
          </a:p>
        </p:txBody>
      </p:sp>
      <p:sp>
        <p:nvSpPr>
          <p:cNvPr id="3" name="Content Placeholder 2"/>
          <p:cNvSpPr>
            <a:spLocks noGrp="1"/>
          </p:cNvSpPr>
          <p:nvPr>
            <p:ph idx="1"/>
          </p:nvPr>
        </p:nvSpPr>
        <p:spPr>
          <a:xfrm>
            <a:off x="1765347" y="920435"/>
            <a:ext cx="8915400" cy="3777622"/>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Description: Displays data as slices of a circle, with each slice representing a proportion of the whole.</a:t>
            </a:r>
          </a:p>
          <a:p>
            <a:r>
              <a:rPr lang="en-US" dirty="0">
                <a:latin typeface="Times New Roman" panose="02020603050405020304" pitchFamily="18" charset="0"/>
                <a:cs typeface="Times New Roman" panose="02020603050405020304" pitchFamily="18" charset="0"/>
              </a:rPr>
              <a:t>Uses: Showing proportions, parts-to-whole relationships.</a:t>
            </a:r>
          </a:p>
          <a:p>
            <a:r>
              <a:rPr lang="en-US" dirty="0">
                <a:latin typeface="Times New Roman" panose="02020603050405020304" pitchFamily="18" charset="0"/>
                <a:cs typeface="Times New Roman" panose="02020603050405020304" pitchFamily="18" charset="0"/>
              </a:rPr>
              <a:t>Example: Market share of different products.</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dimension (e.g., Category) to the Color shelf.</a:t>
            </a:r>
          </a:p>
          <a:p>
            <a:r>
              <a:rPr lang="en-US" dirty="0">
                <a:latin typeface="Times New Roman" panose="02020603050405020304" pitchFamily="18" charset="0"/>
                <a:cs typeface="Times New Roman" panose="02020603050405020304" pitchFamily="18" charset="0"/>
              </a:rPr>
              <a:t>Drag a measure (e.g., Sales) to the Angle shelf.</a:t>
            </a:r>
          </a:p>
          <a:p>
            <a:r>
              <a:rPr lang="en-US" dirty="0">
                <a:latin typeface="Times New Roman" panose="02020603050405020304" pitchFamily="18" charset="0"/>
                <a:cs typeface="Times New Roman" panose="02020603050405020304" pitchFamily="18" charset="0"/>
              </a:rPr>
              <a:t>Select Pie Chart from the Show Me panel.</a:t>
            </a:r>
          </a:p>
        </p:txBody>
      </p:sp>
      <p:pic>
        <p:nvPicPr>
          <p:cNvPr id="4" name="Picture 3"/>
          <p:cNvPicPr>
            <a:picLocks noChangeAspect="1"/>
          </p:cNvPicPr>
          <p:nvPr/>
        </p:nvPicPr>
        <p:blipFill rotWithShape="1">
          <a:blip r:embed="rId2"/>
          <a:srcRect r="11553"/>
          <a:stretch/>
        </p:blipFill>
        <p:spPr>
          <a:xfrm>
            <a:off x="7203337" y="3668542"/>
            <a:ext cx="4158762" cy="2863379"/>
          </a:xfrm>
          <a:prstGeom prst="rect">
            <a:avLst/>
          </a:prstGeom>
        </p:spPr>
      </p:pic>
    </p:spTree>
    <p:extLst>
      <p:ext uri="{BB962C8B-B14F-4D97-AF65-F5344CB8AC3E}">
        <p14:creationId xmlns:p14="http://schemas.microsoft.com/office/powerpoint/2010/main" val="268520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273" y="615057"/>
            <a:ext cx="8911687" cy="1280890"/>
          </a:xfrm>
        </p:spPr>
        <p:txBody>
          <a:bodyPr/>
          <a:lstStyle/>
          <a:p>
            <a:r>
              <a:rPr lang="en-US" dirty="0">
                <a:latin typeface="Times New Roman" panose="02020603050405020304" pitchFamily="18" charset="0"/>
                <a:cs typeface="Times New Roman" panose="02020603050405020304" pitchFamily="18" charset="0"/>
              </a:rPr>
              <a:t>Scatter Plot</a:t>
            </a:r>
          </a:p>
        </p:txBody>
      </p:sp>
      <p:sp>
        <p:nvSpPr>
          <p:cNvPr id="3" name="Content Placeholder 2"/>
          <p:cNvSpPr>
            <a:spLocks noGrp="1"/>
          </p:cNvSpPr>
          <p:nvPr>
            <p:ph idx="1"/>
          </p:nvPr>
        </p:nvSpPr>
        <p:spPr>
          <a:xfrm>
            <a:off x="1805273" y="811795"/>
            <a:ext cx="8915400" cy="3777622"/>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Description: Displays data points on a two-dimensional plane, showing relationships between two measures.</a:t>
            </a:r>
          </a:p>
          <a:p>
            <a:r>
              <a:rPr lang="en-US" dirty="0">
                <a:latin typeface="Times New Roman" panose="02020603050405020304" pitchFamily="18" charset="0"/>
                <a:cs typeface="Times New Roman" panose="02020603050405020304" pitchFamily="18" charset="0"/>
              </a:rPr>
              <a:t>Uses: Correlation analysis, outlier detection.</a:t>
            </a:r>
          </a:p>
          <a:p>
            <a:r>
              <a:rPr lang="en-US" dirty="0">
                <a:latin typeface="Times New Roman" panose="02020603050405020304" pitchFamily="18" charset="0"/>
                <a:cs typeface="Times New Roman" panose="02020603050405020304" pitchFamily="18" charset="0"/>
              </a:rPr>
              <a:t>Example: Analyzing the relationship between sales and profit.</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one measure (e.g., Sales) to the Columns shelf.</a:t>
            </a:r>
          </a:p>
          <a:p>
            <a:r>
              <a:rPr lang="en-US" dirty="0">
                <a:latin typeface="Times New Roman" panose="02020603050405020304" pitchFamily="18" charset="0"/>
                <a:cs typeface="Times New Roman" panose="02020603050405020304" pitchFamily="18" charset="0"/>
              </a:rPr>
              <a:t>Drag another measure (e.g., Profit) to the Rows shelf.</a:t>
            </a:r>
          </a:p>
          <a:p>
            <a:r>
              <a:rPr lang="en-US" dirty="0">
                <a:latin typeface="Times New Roman" panose="02020603050405020304" pitchFamily="18" charset="0"/>
                <a:cs typeface="Times New Roman" panose="02020603050405020304" pitchFamily="18" charset="0"/>
              </a:rPr>
              <a:t>Tableau automatically creates a scatter plot.</a:t>
            </a:r>
          </a:p>
        </p:txBody>
      </p:sp>
      <p:pic>
        <p:nvPicPr>
          <p:cNvPr id="4" name="Picture 3"/>
          <p:cNvPicPr>
            <a:picLocks noChangeAspect="1"/>
          </p:cNvPicPr>
          <p:nvPr/>
        </p:nvPicPr>
        <p:blipFill rotWithShape="1">
          <a:blip r:embed="rId2"/>
          <a:srcRect r="16948"/>
          <a:stretch/>
        </p:blipFill>
        <p:spPr>
          <a:xfrm>
            <a:off x="7770880" y="2781756"/>
            <a:ext cx="3697355" cy="4008797"/>
          </a:xfrm>
          <a:prstGeom prst="rect">
            <a:avLst/>
          </a:prstGeom>
        </p:spPr>
      </p:pic>
    </p:spTree>
    <p:extLst>
      <p:ext uri="{BB962C8B-B14F-4D97-AF65-F5344CB8AC3E}">
        <p14:creationId xmlns:p14="http://schemas.microsoft.com/office/powerpoint/2010/main" val="3001954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2434" y="624110"/>
            <a:ext cx="8911687" cy="1280890"/>
          </a:xfrm>
        </p:spPr>
        <p:txBody>
          <a:bodyPr/>
          <a:lstStyle/>
          <a:p>
            <a:r>
              <a:rPr lang="en-US" dirty="0">
                <a:latin typeface="Times New Roman" panose="02020603050405020304" pitchFamily="18" charset="0"/>
                <a:cs typeface="Times New Roman" panose="02020603050405020304" pitchFamily="18" charset="0"/>
              </a:rPr>
              <a:t>Area Chart</a:t>
            </a:r>
          </a:p>
        </p:txBody>
      </p:sp>
      <p:sp>
        <p:nvSpPr>
          <p:cNvPr id="3" name="Content Placeholder 2"/>
          <p:cNvSpPr>
            <a:spLocks noGrp="1"/>
          </p:cNvSpPr>
          <p:nvPr>
            <p:ph idx="1"/>
          </p:nvPr>
        </p:nvSpPr>
        <p:spPr>
          <a:xfrm>
            <a:off x="1832434" y="875169"/>
            <a:ext cx="8915400" cy="3777622"/>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Description: Similar to a line chart, but the area under the line is filled.</a:t>
            </a:r>
          </a:p>
          <a:p>
            <a:r>
              <a:rPr lang="en-US" dirty="0">
                <a:latin typeface="Times New Roman" panose="02020603050405020304" pitchFamily="18" charset="0"/>
                <a:cs typeface="Times New Roman" panose="02020603050405020304" pitchFamily="18" charset="0"/>
              </a:rPr>
              <a:t>Uses: Showing cumulative data, part-to-whole relationships over time.</a:t>
            </a:r>
          </a:p>
          <a:p>
            <a:r>
              <a:rPr lang="en-US" dirty="0">
                <a:latin typeface="Times New Roman" panose="02020603050405020304" pitchFamily="18" charset="0"/>
                <a:cs typeface="Times New Roman" panose="02020603050405020304" pitchFamily="18" charset="0"/>
              </a:rPr>
              <a:t>Example: Cumulative sales over time.</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date dimension (e.g., Order Date) to the Columns shelf.</a:t>
            </a:r>
          </a:p>
          <a:p>
            <a:r>
              <a:rPr lang="en-US" dirty="0">
                <a:latin typeface="Times New Roman" panose="02020603050405020304" pitchFamily="18" charset="0"/>
                <a:cs typeface="Times New Roman" panose="02020603050405020304" pitchFamily="18" charset="0"/>
              </a:rPr>
              <a:t>Drag a measure (e.g., Sales) to the Rows shelf.</a:t>
            </a:r>
          </a:p>
          <a:p>
            <a:r>
              <a:rPr lang="en-US" dirty="0">
                <a:latin typeface="Times New Roman" panose="02020603050405020304" pitchFamily="18" charset="0"/>
                <a:cs typeface="Times New Roman" panose="02020603050405020304" pitchFamily="18" charset="0"/>
              </a:rPr>
              <a:t>Select Area Chart from the Show Me panel.</a:t>
            </a:r>
          </a:p>
        </p:txBody>
      </p:sp>
      <p:pic>
        <p:nvPicPr>
          <p:cNvPr id="4" name="Picture 3"/>
          <p:cNvPicPr>
            <a:picLocks noChangeAspect="1"/>
          </p:cNvPicPr>
          <p:nvPr/>
        </p:nvPicPr>
        <p:blipFill>
          <a:blip r:embed="rId2"/>
          <a:stretch>
            <a:fillRect/>
          </a:stretch>
        </p:blipFill>
        <p:spPr>
          <a:xfrm>
            <a:off x="7054439" y="3240926"/>
            <a:ext cx="5137561" cy="2996911"/>
          </a:xfrm>
          <a:prstGeom prst="rect">
            <a:avLst/>
          </a:prstGeom>
        </p:spPr>
      </p:pic>
    </p:spTree>
    <p:extLst>
      <p:ext uri="{BB962C8B-B14F-4D97-AF65-F5344CB8AC3E}">
        <p14:creationId xmlns:p14="http://schemas.microsoft.com/office/powerpoint/2010/main" val="2803247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3380" y="624110"/>
            <a:ext cx="8911687" cy="1280890"/>
          </a:xfrm>
        </p:spPr>
        <p:txBody>
          <a:bodyPr/>
          <a:lstStyle/>
          <a:p>
            <a:r>
              <a:rPr lang="en-US" dirty="0">
                <a:latin typeface="Times New Roman" panose="02020603050405020304" pitchFamily="18" charset="0"/>
                <a:cs typeface="Times New Roman" panose="02020603050405020304" pitchFamily="18" charset="0"/>
              </a:rPr>
              <a:t>Map</a:t>
            </a:r>
          </a:p>
        </p:txBody>
      </p:sp>
      <p:sp>
        <p:nvSpPr>
          <p:cNvPr id="3" name="Content Placeholder 2"/>
          <p:cNvSpPr>
            <a:spLocks noGrp="1"/>
          </p:cNvSpPr>
          <p:nvPr>
            <p:ph idx="1"/>
          </p:nvPr>
        </p:nvSpPr>
        <p:spPr>
          <a:xfrm>
            <a:off x="1823380" y="1264555"/>
            <a:ext cx="8915400" cy="3777622"/>
          </a:xfrm>
        </p:spPr>
        <p:txBody>
          <a:bodyPr/>
          <a:lstStyle/>
          <a:p>
            <a:r>
              <a:rPr lang="en-US" dirty="0">
                <a:latin typeface="Times New Roman" panose="02020603050405020304" pitchFamily="18" charset="0"/>
                <a:cs typeface="Times New Roman" panose="02020603050405020304" pitchFamily="18" charset="0"/>
              </a:rPr>
              <a:t>Description: Displays data geographically on a map.</a:t>
            </a:r>
          </a:p>
          <a:p>
            <a:r>
              <a:rPr lang="en-US" dirty="0">
                <a:latin typeface="Times New Roman" panose="02020603050405020304" pitchFamily="18" charset="0"/>
                <a:cs typeface="Times New Roman" panose="02020603050405020304" pitchFamily="18" charset="0"/>
              </a:rPr>
              <a:t>Uses: Geographic analysis, location-based data insights.</a:t>
            </a:r>
          </a:p>
          <a:p>
            <a:r>
              <a:rPr lang="en-US" dirty="0">
                <a:latin typeface="Times New Roman" panose="02020603050405020304" pitchFamily="18" charset="0"/>
                <a:cs typeface="Times New Roman" panose="02020603050405020304" pitchFamily="18" charset="0"/>
              </a:rPr>
              <a:t>Example: Sales by state or country.</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geographic field (e.g., State) to the view.</a:t>
            </a:r>
          </a:p>
          <a:p>
            <a:r>
              <a:rPr lang="en-US" dirty="0">
                <a:latin typeface="Times New Roman" panose="02020603050405020304" pitchFamily="18" charset="0"/>
                <a:cs typeface="Times New Roman" panose="02020603050405020304" pitchFamily="18" charset="0"/>
              </a:rPr>
              <a:t>Drag a measure (e.g., Sales) to the Color shelf.</a:t>
            </a:r>
          </a:p>
          <a:p>
            <a:r>
              <a:rPr lang="en-US" dirty="0">
                <a:latin typeface="Times New Roman" panose="02020603050405020304" pitchFamily="18" charset="0"/>
                <a:cs typeface="Times New Roman" panose="02020603050405020304" pitchFamily="18" charset="0"/>
              </a:rPr>
              <a:t>Tableau automatically creates a map.</a:t>
            </a:r>
          </a:p>
        </p:txBody>
      </p:sp>
      <p:pic>
        <p:nvPicPr>
          <p:cNvPr id="4" name="Picture 3"/>
          <p:cNvPicPr>
            <a:picLocks noChangeAspect="1"/>
          </p:cNvPicPr>
          <p:nvPr/>
        </p:nvPicPr>
        <p:blipFill>
          <a:blip r:embed="rId2"/>
          <a:stretch>
            <a:fillRect/>
          </a:stretch>
        </p:blipFill>
        <p:spPr>
          <a:xfrm>
            <a:off x="6636191" y="3435099"/>
            <a:ext cx="5482776" cy="3355000"/>
          </a:xfrm>
          <a:prstGeom prst="rect">
            <a:avLst/>
          </a:prstGeom>
        </p:spPr>
      </p:pic>
    </p:spTree>
    <p:extLst>
      <p:ext uri="{BB962C8B-B14F-4D97-AF65-F5344CB8AC3E}">
        <p14:creationId xmlns:p14="http://schemas.microsoft.com/office/powerpoint/2010/main" val="18972825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1487" y="578842"/>
            <a:ext cx="8911687" cy="1280890"/>
          </a:xfrm>
        </p:spPr>
        <p:txBody>
          <a:bodyPr/>
          <a:lstStyle/>
          <a:p>
            <a:r>
              <a:rPr lang="en-US" dirty="0">
                <a:latin typeface="Times New Roman" panose="02020603050405020304" pitchFamily="18" charset="0"/>
                <a:cs typeface="Times New Roman" panose="02020603050405020304" pitchFamily="18" charset="0"/>
              </a:rPr>
              <a:t>Waterfall chart</a:t>
            </a:r>
          </a:p>
        </p:txBody>
      </p:sp>
      <p:sp>
        <p:nvSpPr>
          <p:cNvPr id="3" name="Content Placeholder 2"/>
          <p:cNvSpPr>
            <a:spLocks noGrp="1"/>
          </p:cNvSpPr>
          <p:nvPr>
            <p:ph idx="1"/>
          </p:nvPr>
        </p:nvSpPr>
        <p:spPr>
          <a:xfrm>
            <a:off x="1841487" y="1219287"/>
            <a:ext cx="8915400" cy="3777622"/>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Waterfall Chart</a:t>
            </a:r>
          </a:p>
          <a:p>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A waterfall chart visualizes the cumulative effect of sequentially introduced positive or negative values. Each bar represents a data point, showing how an initial value is affected by intermediate positive and negative changes, ultimately leading to a final value.</a:t>
            </a:r>
          </a:p>
          <a:p>
            <a:r>
              <a:rPr lang="en-US" b="1" dirty="0">
                <a:latin typeface="Times New Roman" panose="02020603050405020304" pitchFamily="18" charset="0"/>
                <a:cs typeface="Times New Roman" panose="02020603050405020304" pitchFamily="18" charset="0"/>
              </a:rPr>
              <a:t>Uses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Financial Analysis</a:t>
            </a:r>
            <a:r>
              <a:rPr lang="en-US" dirty="0">
                <a:latin typeface="Times New Roman" panose="02020603050405020304" pitchFamily="18" charset="0"/>
                <a:cs typeface="Times New Roman" panose="02020603050405020304" pitchFamily="18" charset="0"/>
              </a:rPr>
              <a:t>: Displaying how revenue or profit changes due to various factors like costs and expenses.</a:t>
            </a:r>
          </a:p>
          <a:p>
            <a:r>
              <a:rPr lang="en-US" b="1" dirty="0">
                <a:latin typeface="Times New Roman" panose="02020603050405020304" pitchFamily="18" charset="0"/>
                <a:cs typeface="Times New Roman" panose="02020603050405020304" pitchFamily="18" charset="0"/>
              </a:rPr>
              <a:t>Inventory Analysis</a:t>
            </a:r>
            <a:r>
              <a:rPr lang="en-US" dirty="0">
                <a:latin typeface="Times New Roman" panose="02020603050405020304" pitchFamily="18" charset="0"/>
                <a:cs typeface="Times New Roman" panose="02020603050405020304" pitchFamily="18" charset="0"/>
              </a:rPr>
              <a:t>: Demonstrating the changes in stock levels with incoming and outgoing items.</a:t>
            </a:r>
          </a:p>
          <a:p>
            <a:r>
              <a:rPr lang="en-US" b="1" dirty="0">
                <a:latin typeface="Times New Roman" panose="02020603050405020304" pitchFamily="18" charset="0"/>
                <a:cs typeface="Times New Roman" panose="02020603050405020304" pitchFamily="18" charset="0"/>
              </a:rPr>
              <a:t>Process Improvement</a:t>
            </a:r>
            <a:r>
              <a:rPr lang="en-US" dirty="0">
                <a:latin typeface="Times New Roman" panose="02020603050405020304" pitchFamily="18" charset="0"/>
                <a:cs typeface="Times New Roman" panose="02020603050405020304" pitchFamily="18" charset="0"/>
              </a:rPr>
              <a:t>: Illustrating the impact of different stages on a key metric.</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Showing the impact of various expenses and incomes on the starting revenue to reach the ending revenue.</a:t>
            </a:r>
          </a:p>
        </p:txBody>
      </p:sp>
    </p:spTree>
    <p:extLst>
      <p:ext uri="{BB962C8B-B14F-4D97-AF65-F5344CB8AC3E}">
        <p14:creationId xmlns:p14="http://schemas.microsoft.com/office/powerpoint/2010/main" val="4186528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78179" y="820586"/>
            <a:ext cx="5393817" cy="4204088"/>
          </a:xfrm>
          <a:prstGeom prst="rect">
            <a:avLst/>
          </a:prstGeom>
        </p:spPr>
      </p:pic>
    </p:spTree>
    <p:extLst>
      <p:ext uri="{BB962C8B-B14F-4D97-AF65-F5344CB8AC3E}">
        <p14:creationId xmlns:p14="http://schemas.microsoft.com/office/powerpoint/2010/main" val="4132271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64523" y="603564"/>
            <a:ext cx="8915400" cy="6254436"/>
          </a:xfrm>
        </p:spPr>
        <p:txBody>
          <a:bodyPr>
            <a:normAutofit fontScale="92500" lnSpcReduction="20000"/>
          </a:bodyPr>
          <a:lstStyle/>
          <a:p>
            <a:r>
              <a:rPr lang="en-US" b="1" dirty="0">
                <a:solidFill>
                  <a:schemeClr val="tx1"/>
                </a:solidFill>
                <a:latin typeface="Times New Roman" panose="02020603050405020304" pitchFamily="18" charset="0"/>
                <a:cs typeface="Times New Roman" panose="02020603050405020304" pitchFamily="18" charset="0"/>
              </a:rPr>
              <a:t>How to Create</a:t>
            </a:r>
            <a:r>
              <a:rPr lang="en-US" dirty="0">
                <a:solidFill>
                  <a:schemeClr val="tx1"/>
                </a:solidFill>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Create a Calculated Field for Running Total </a:t>
            </a:r>
            <a:r>
              <a:rPr lang="en-US" dirty="0">
                <a:solidFill>
                  <a:schemeClr val="tx1"/>
                </a:solidFill>
                <a:latin typeface="Times New Roman" panose="02020603050405020304" pitchFamily="18" charset="0"/>
                <a:cs typeface="Times New Roman" panose="02020603050405020304" pitchFamily="18" charset="0"/>
              </a:rPr>
              <a:t> -&gt; Go to the Data pane, right-click, and select Create Calculated Field.</a:t>
            </a:r>
          </a:p>
          <a:p>
            <a:r>
              <a:rPr lang="en-US" b="1" dirty="0">
                <a:solidFill>
                  <a:schemeClr val="tx1"/>
                </a:solidFill>
                <a:latin typeface="Times New Roman" panose="02020603050405020304" pitchFamily="18" charset="0"/>
                <a:cs typeface="Times New Roman" panose="02020603050405020304" pitchFamily="18" charset="0"/>
              </a:rPr>
              <a:t>Name it something like Running </a:t>
            </a:r>
            <a:r>
              <a:rPr lang="en-US" b="1" dirty="0" err="1">
                <a:solidFill>
                  <a:schemeClr val="tx1"/>
                </a:solidFill>
                <a:latin typeface="Times New Roman" panose="02020603050405020304" pitchFamily="18" charset="0"/>
                <a:cs typeface="Times New Roman" panose="02020603050405020304" pitchFamily="18" charset="0"/>
              </a:rPr>
              <a:t>Total.</a:t>
            </a:r>
            <a:r>
              <a:rPr lang="en-US" dirty="0" err="1">
                <a:solidFill>
                  <a:schemeClr val="tx1"/>
                </a:solidFill>
                <a:latin typeface="Times New Roman" panose="02020603050405020304" pitchFamily="18" charset="0"/>
                <a:cs typeface="Times New Roman" panose="02020603050405020304" pitchFamily="18" charset="0"/>
              </a:rPr>
              <a:t>Use</a:t>
            </a:r>
            <a:r>
              <a:rPr lang="en-US" dirty="0">
                <a:solidFill>
                  <a:schemeClr val="tx1"/>
                </a:solidFill>
                <a:latin typeface="Times New Roman" panose="02020603050405020304" pitchFamily="18" charset="0"/>
                <a:cs typeface="Times New Roman" panose="02020603050405020304" pitchFamily="18" charset="0"/>
              </a:rPr>
              <a:t> the following formula:</a:t>
            </a:r>
          </a:p>
          <a:p>
            <a:r>
              <a:rPr lang="en-US" dirty="0">
                <a:solidFill>
                  <a:schemeClr val="tx1"/>
                </a:solidFill>
                <a:latin typeface="Times New Roman" panose="02020603050405020304" pitchFamily="18" charset="0"/>
                <a:cs typeface="Times New Roman" panose="02020603050405020304" pitchFamily="18" charset="0"/>
              </a:rPr>
              <a:t>RUNNING_SUM(SUM([Value]))</a:t>
            </a:r>
          </a:p>
          <a:p>
            <a:r>
              <a:rPr lang="en-US" b="1" dirty="0">
                <a:solidFill>
                  <a:schemeClr val="tx1"/>
                </a:solidFill>
                <a:latin typeface="Times New Roman" panose="02020603050405020304" pitchFamily="18" charset="0"/>
                <a:cs typeface="Times New Roman" panose="02020603050405020304" pitchFamily="18" charset="0"/>
              </a:rPr>
              <a:t>Build the Basic Chart:</a:t>
            </a:r>
          </a:p>
          <a:p>
            <a:r>
              <a:rPr lang="en-US" b="1" dirty="0">
                <a:solidFill>
                  <a:schemeClr val="tx1"/>
                </a:solidFill>
                <a:latin typeface="Times New Roman" panose="02020603050405020304" pitchFamily="18" charset="0"/>
                <a:cs typeface="Times New Roman" panose="02020603050405020304" pitchFamily="18" charset="0"/>
              </a:rPr>
              <a:t>Drag your Category dimension to the Columns shelf.  </a:t>
            </a:r>
            <a:r>
              <a:rPr lang="en-US" dirty="0">
                <a:solidFill>
                  <a:schemeClr val="tx1"/>
                </a:solidFill>
                <a:latin typeface="Times New Roman" panose="02020603050405020304" pitchFamily="18" charset="0"/>
                <a:cs typeface="Times New Roman" panose="02020603050405020304" pitchFamily="18" charset="0"/>
              </a:rPr>
              <a:t>-&gt; Drag your Value measure to the Rows shelf.</a:t>
            </a:r>
          </a:p>
          <a:p>
            <a:r>
              <a:rPr lang="en-US" b="1" dirty="0">
                <a:solidFill>
                  <a:schemeClr val="tx1"/>
                </a:solidFill>
                <a:latin typeface="Times New Roman" panose="02020603050405020304" pitchFamily="18" charset="0"/>
                <a:cs typeface="Times New Roman" panose="02020603050405020304" pitchFamily="18" charset="0"/>
              </a:rPr>
              <a:t>Convert to Gantt Bar Chart: </a:t>
            </a:r>
            <a:r>
              <a:rPr lang="en-US" dirty="0">
                <a:solidFill>
                  <a:schemeClr val="tx1"/>
                </a:solidFill>
                <a:latin typeface="Times New Roman" panose="02020603050405020304" pitchFamily="18" charset="0"/>
                <a:cs typeface="Times New Roman" panose="02020603050405020304" pitchFamily="18" charset="0"/>
              </a:rPr>
              <a:t>-&gt;Change the mark type from Automatic to Gantt Bar in the Marks card.</a:t>
            </a:r>
          </a:p>
          <a:p>
            <a:r>
              <a:rPr lang="en-US" b="1" dirty="0">
                <a:solidFill>
                  <a:schemeClr val="tx1"/>
                </a:solidFill>
                <a:latin typeface="Times New Roman" panose="02020603050405020304" pitchFamily="18" charset="0"/>
                <a:cs typeface="Times New Roman" panose="02020603050405020304" pitchFamily="18" charset="0"/>
              </a:rPr>
              <a:t>Add Running Total to Size</a:t>
            </a:r>
            <a:r>
              <a:rPr lang="en-US" dirty="0">
                <a:solidFill>
                  <a:schemeClr val="tx1"/>
                </a:solidFill>
                <a:latin typeface="Times New Roman" panose="02020603050405020304" pitchFamily="18" charset="0"/>
                <a:cs typeface="Times New Roman" panose="02020603050405020304" pitchFamily="18" charset="0"/>
              </a:rPr>
              <a:t>:-&gt;Drag the Running Total calculated field to the Size shelf in the Marks card.</a:t>
            </a:r>
          </a:p>
          <a:p>
            <a:r>
              <a:rPr lang="en-US" b="1" dirty="0">
                <a:solidFill>
                  <a:schemeClr val="tx1"/>
                </a:solidFill>
                <a:latin typeface="Times New Roman" panose="02020603050405020304" pitchFamily="18" charset="0"/>
                <a:cs typeface="Times New Roman" panose="02020603050405020304" pitchFamily="18" charset="0"/>
              </a:rPr>
              <a:t>Adjust the Size: </a:t>
            </a:r>
            <a:r>
              <a:rPr lang="en-US" dirty="0">
                <a:solidFill>
                  <a:schemeClr val="tx1"/>
                </a:solidFill>
                <a:latin typeface="Times New Roman" panose="02020603050405020304" pitchFamily="18" charset="0"/>
                <a:cs typeface="Times New Roman" panose="02020603050405020304" pitchFamily="18" charset="0"/>
              </a:rPr>
              <a:t>-&gt;You might need to adjust the size of the bars to make them more visible. You can do this by clicking on the Size shelf and adjusting the slider.</a:t>
            </a:r>
          </a:p>
          <a:p>
            <a:r>
              <a:rPr lang="en-US" b="1" dirty="0">
                <a:solidFill>
                  <a:schemeClr val="tx1"/>
                </a:solidFill>
                <a:latin typeface="Times New Roman" panose="02020603050405020304" pitchFamily="18" charset="0"/>
                <a:cs typeface="Times New Roman" panose="02020603050405020304" pitchFamily="18" charset="0"/>
              </a:rPr>
              <a:t>Color Coding:-&gt;</a:t>
            </a:r>
            <a:r>
              <a:rPr lang="en-US" dirty="0">
                <a:solidFill>
                  <a:schemeClr val="tx1"/>
                </a:solidFill>
                <a:latin typeface="Times New Roman" panose="02020603050405020304" pitchFamily="18" charset="0"/>
                <a:cs typeface="Times New Roman" panose="02020603050405020304" pitchFamily="18" charset="0"/>
              </a:rPr>
              <a:t>To differentiate between positive and negative changes, drag the Value field to the Color shelf. Tableau will color the bars differently based on whether the values are positive or negative.</a:t>
            </a:r>
          </a:p>
          <a:p>
            <a:r>
              <a:rPr lang="en-US" b="1" dirty="0">
                <a:solidFill>
                  <a:schemeClr val="tx1"/>
                </a:solidFill>
                <a:latin typeface="Times New Roman" panose="02020603050405020304" pitchFamily="18" charset="0"/>
                <a:cs typeface="Times New Roman" panose="02020603050405020304" pitchFamily="18" charset="0"/>
              </a:rPr>
              <a:t>Formatting:-&gt;</a:t>
            </a:r>
            <a:r>
              <a:rPr lang="en-US" dirty="0">
                <a:solidFill>
                  <a:schemeClr val="tx1"/>
                </a:solidFill>
                <a:latin typeface="Times New Roman" panose="02020603050405020304" pitchFamily="18" charset="0"/>
                <a:cs typeface="Times New Roman" panose="02020603050405020304" pitchFamily="18" charset="0"/>
              </a:rPr>
              <a:t>Adjust the colors, labels, and tooltips to improve readability.</a:t>
            </a:r>
          </a:p>
          <a:p>
            <a:r>
              <a:rPr lang="en-US" dirty="0">
                <a:solidFill>
                  <a:schemeClr val="tx1"/>
                </a:solidFill>
                <a:latin typeface="Times New Roman" panose="02020603050405020304" pitchFamily="18" charset="0"/>
                <a:cs typeface="Times New Roman" panose="02020603050405020304" pitchFamily="18" charset="0"/>
              </a:rPr>
              <a:t>Add labels by dragging the Value field to the Label shelf in the Marks card.</a:t>
            </a:r>
          </a:p>
          <a:p>
            <a:r>
              <a:rPr lang="en-US" b="1" dirty="0">
                <a:solidFill>
                  <a:schemeClr val="tx1"/>
                </a:solidFill>
                <a:latin typeface="Times New Roman" panose="02020603050405020304" pitchFamily="18" charset="0"/>
                <a:cs typeface="Times New Roman" panose="02020603050405020304" pitchFamily="18" charset="0"/>
              </a:rPr>
              <a:t>Refinement:-&gt;</a:t>
            </a:r>
            <a:r>
              <a:rPr lang="en-US" dirty="0">
                <a:solidFill>
                  <a:schemeClr val="tx1"/>
                </a:solidFill>
                <a:latin typeface="Times New Roman" panose="02020603050405020304" pitchFamily="18" charset="0"/>
                <a:cs typeface="Times New Roman" panose="02020603050405020304" pitchFamily="18" charset="0"/>
              </a:rPr>
              <a:t>You can add reference lines or annotations to provide more context.</a:t>
            </a:r>
          </a:p>
          <a:p>
            <a:r>
              <a:rPr lang="en-US" dirty="0">
                <a:solidFill>
                  <a:schemeClr val="tx1"/>
                </a:solidFill>
                <a:latin typeface="Times New Roman" panose="02020603050405020304" pitchFamily="18" charset="0"/>
                <a:cs typeface="Times New Roman" panose="02020603050405020304" pitchFamily="18" charset="0"/>
              </a:rPr>
              <a:t>Ensure your axis and chart titles are descriptive.</a:t>
            </a:r>
          </a:p>
        </p:txBody>
      </p:sp>
    </p:spTree>
    <p:extLst>
      <p:ext uri="{BB962C8B-B14F-4D97-AF65-F5344CB8AC3E}">
        <p14:creationId xmlns:p14="http://schemas.microsoft.com/office/powerpoint/2010/main" val="1699190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6221" y="587896"/>
            <a:ext cx="8911687" cy="1280890"/>
          </a:xfrm>
        </p:spPr>
        <p:txBody>
          <a:bodyPr/>
          <a:lstStyle/>
          <a:p>
            <a:r>
              <a:rPr lang="en-US" dirty="0"/>
              <a:t>Funnel Chart</a:t>
            </a:r>
          </a:p>
        </p:txBody>
      </p:sp>
      <p:sp>
        <p:nvSpPr>
          <p:cNvPr id="3" name="Content Placeholder 2"/>
          <p:cNvSpPr>
            <a:spLocks noGrp="1"/>
          </p:cNvSpPr>
          <p:nvPr>
            <p:ph idx="1"/>
          </p:nvPr>
        </p:nvSpPr>
        <p:spPr>
          <a:xfrm>
            <a:off x="1792508" y="1228341"/>
            <a:ext cx="8915400" cy="3777622"/>
          </a:xfrm>
        </p:spPr>
        <p:txBody>
          <a:bodyPr>
            <a:normAutofit/>
          </a:bodyPr>
          <a:lstStyle/>
          <a:p>
            <a:r>
              <a:rPr lang="en-US" dirty="0"/>
              <a:t>A funnel chart is used to visualize the progressive reduction of data as it passes from one phase to another. It is typically used to represent stages in a process, where each stage is represented by a portion of the funnel.</a:t>
            </a:r>
          </a:p>
          <a:p>
            <a:r>
              <a:rPr lang="en-US" dirty="0"/>
              <a:t>Uses: Sales Pipeline: Visualizing stages from leads to conversions.</a:t>
            </a:r>
          </a:p>
          <a:p>
            <a:r>
              <a:rPr lang="en-US" dirty="0"/>
              <a:t>Marketing Funnels: Showing steps in a campaign from awareness to purchase.</a:t>
            </a:r>
          </a:p>
          <a:p>
            <a:r>
              <a:rPr lang="en-US" dirty="0"/>
              <a:t>Process Analysis: Displaying the drop-off at each stage of a multi-step process.</a:t>
            </a:r>
          </a:p>
        </p:txBody>
      </p:sp>
      <p:pic>
        <p:nvPicPr>
          <p:cNvPr id="5" name="Picture 4"/>
          <p:cNvPicPr>
            <a:picLocks noChangeAspect="1"/>
          </p:cNvPicPr>
          <p:nvPr/>
        </p:nvPicPr>
        <p:blipFill rotWithShape="1">
          <a:blip r:embed="rId2"/>
          <a:srcRect t="9871"/>
          <a:stretch/>
        </p:blipFill>
        <p:spPr>
          <a:xfrm>
            <a:off x="7253495" y="4309450"/>
            <a:ext cx="4788644" cy="2462543"/>
          </a:xfrm>
          <a:prstGeom prst="rect">
            <a:avLst/>
          </a:prstGeom>
        </p:spPr>
      </p:pic>
    </p:spTree>
    <p:extLst>
      <p:ext uri="{BB962C8B-B14F-4D97-AF65-F5344CB8AC3E}">
        <p14:creationId xmlns:p14="http://schemas.microsoft.com/office/powerpoint/2010/main" val="1359885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648" y="624110"/>
            <a:ext cx="8911687" cy="1280890"/>
          </a:xfrm>
        </p:spPr>
        <p:txBody>
          <a:bodyPr/>
          <a:lstStyle/>
          <a:p>
            <a:r>
              <a:rPr lang="en-US" dirty="0">
                <a:latin typeface="Times New Roman" panose="02020603050405020304" pitchFamily="18" charset="0"/>
                <a:cs typeface="Times New Roman" panose="02020603050405020304" pitchFamily="18" charset="0"/>
              </a:rPr>
              <a:t>Histogram</a:t>
            </a:r>
          </a:p>
        </p:txBody>
      </p:sp>
      <p:sp>
        <p:nvSpPr>
          <p:cNvPr id="3" name="Content Placeholder 2"/>
          <p:cNvSpPr>
            <a:spLocks noGrp="1"/>
          </p:cNvSpPr>
          <p:nvPr>
            <p:ph idx="1"/>
          </p:nvPr>
        </p:nvSpPr>
        <p:spPr>
          <a:xfrm>
            <a:off x="1763335" y="1321705"/>
            <a:ext cx="8915400" cy="3777622"/>
          </a:xfrm>
        </p:spPr>
        <p:txBody>
          <a:bodyPr/>
          <a:lstStyle/>
          <a:p>
            <a:r>
              <a:rPr lang="en-US" dirty="0">
                <a:latin typeface="Times New Roman" panose="02020603050405020304" pitchFamily="18" charset="0"/>
                <a:cs typeface="Times New Roman" panose="02020603050405020304" pitchFamily="18" charset="0"/>
              </a:rPr>
              <a:t>Description: Displays the distribution of a continuous variable by dividing it into bins.</a:t>
            </a:r>
          </a:p>
          <a:p>
            <a:r>
              <a:rPr lang="en-US" dirty="0">
                <a:latin typeface="Times New Roman" panose="02020603050405020304" pitchFamily="18" charset="0"/>
                <a:cs typeface="Times New Roman" panose="02020603050405020304" pitchFamily="18" charset="0"/>
              </a:rPr>
              <a:t>Uses: Frequency distribution, understanding the spread of data.</a:t>
            </a:r>
          </a:p>
          <a:p>
            <a:r>
              <a:rPr lang="en-US" dirty="0">
                <a:latin typeface="Times New Roman" panose="02020603050405020304" pitchFamily="18" charset="0"/>
                <a:cs typeface="Times New Roman" panose="02020603050405020304" pitchFamily="18" charset="0"/>
              </a:rPr>
              <a:t>Example: Distribution of order quantities.</a:t>
            </a:r>
          </a:p>
          <a:p>
            <a:r>
              <a:rPr lang="en-US" dirty="0">
                <a:latin typeface="Times New Roman" panose="02020603050405020304" pitchFamily="18" charset="0"/>
                <a:cs typeface="Times New Roman" panose="02020603050405020304" pitchFamily="18" charset="0"/>
              </a:rPr>
              <a:t>How to Create:</a:t>
            </a:r>
          </a:p>
          <a:p>
            <a:r>
              <a:rPr lang="en-US" dirty="0">
                <a:latin typeface="Times New Roman" panose="02020603050405020304" pitchFamily="18" charset="0"/>
                <a:cs typeface="Times New Roman" panose="02020603050405020304" pitchFamily="18" charset="0"/>
              </a:rPr>
              <a:t>Drag a measure (e.g., Order Quantity) to the Columns shelf.</a:t>
            </a:r>
          </a:p>
          <a:p>
            <a:r>
              <a:rPr lang="en-US" dirty="0">
                <a:latin typeface="Times New Roman" panose="02020603050405020304" pitchFamily="18" charset="0"/>
                <a:cs typeface="Times New Roman" panose="02020603050405020304" pitchFamily="18" charset="0"/>
              </a:rPr>
              <a:t>Select Histogram from the Show Me panel.</a:t>
            </a:r>
          </a:p>
        </p:txBody>
      </p:sp>
      <p:pic>
        <p:nvPicPr>
          <p:cNvPr id="5" name="Picture 4"/>
          <p:cNvPicPr>
            <a:picLocks noChangeAspect="1"/>
          </p:cNvPicPr>
          <p:nvPr/>
        </p:nvPicPr>
        <p:blipFill>
          <a:blip r:embed="rId2"/>
          <a:stretch>
            <a:fillRect/>
          </a:stretch>
        </p:blipFill>
        <p:spPr>
          <a:xfrm>
            <a:off x="6322635" y="3367675"/>
            <a:ext cx="5705770" cy="3150820"/>
          </a:xfrm>
          <a:prstGeom prst="rect">
            <a:avLst/>
          </a:prstGeom>
        </p:spPr>
      </p:pic>
    </p:spTree>
    <p:extLst>
      <p:ext uri="{BB962C8B-B14F-4D97-AF65-F5344CB8AC3E}">
        <p14:creationId xmlns:p14="http://schemas.microsoft.com/office/powerpoint/2010/main" val="1771165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4327" y="624110"/>
            <a:ext cx="8911687" cy="1280890"/>
          </a:xfrm>
        </p:spPr>
        <p:txBody>
          <a:bodyPr/>
          <a:lstStyle/>
          <a:p>
            <a:r>
              <a:rPr lang="en-US" dirty="0">
                <a:latin typeface="Times New Roman" panose="02020603050405020304" pitchFamily="18" charset="0"/>
                <a:cs typeface="Times New Roman" panose="02020603050405020304" pitchFamily="18" charset="0"/>
              </a:rPr>
              <a:t>Tree map</a:t>
            </a:r>
          </a:p>
        </p:txBody>
      </p:sp>
      <p:sp>
        <p:nvSpPr>
          <p:cNvPr id="3" name="Content Placeholder 2"/>
          <p:cNvSpPr>
            <a:spLocks noGrp="1"/>
          </p:cNvSpPr>
          <p:nvPr>
            <p:ph idx="1"/>
          </p:nvPr>
        </p:nvSpPr>
        <p:spPr>
          <a:xfrm>
            <a:off x="1810614" y="1551915"/>
            <a:ext cx="9958891" cy="4613496"/>
          </a:xfrm>
        </p:spPr>
        <p:txBody>
          <a:bodyPr>
            <a:normAutofit/>
          </a:bodyPr>
          <a:lstStyle/>
          <a:p>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A tree map is a visualization that displays hierarchical data using nested rectangles. Each branch of the hierarchy is represented as a rectangle, containing smaller rectangles representing sub-branches. The size and color of each rectangle represent quantitative variables, making it easy to see patterns and compare sizes.</a:t>
            </a:r>
          </a:p>
          <a:p>
            <a:r>
              <a:rPr lang="en-US" b="1" dirty="0">
                <a:latin typeface="Times New Roman" panose="02020603050405020304" pitchFamily="18" charset="0"/>
                <a:cs typeface="Times New Roman" panose="02020603050405020304" pitchFamily="18" charset="0"/>
              </a:rPr>
              <a:t>Uses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Displaying Hierarchical Data</a:t>
            </a:r>
            <a:r>
              <a:rPr lang="en-US" dirty="0">
                <a:latin typeface="Times New Roman" panose="02020603050405020304" pitchFamily="18" charset="0"/>
                <a:cs typeface="Times New Roman" panose="02020603050405020304" pitchFamily="18" charset="0"/>
              </a:rPr>
              <a:t>: Visualizing data that has a hierarchical structure, such as organizational structures, file directories, or category breakdowns.</a:t>
            </a:r>
          </a:p>
          <a:p>
            <a:r>
              <a:rPr lang="en-US" b="1" dirty="0">
                <a:latin typeface="Times New Roman" panose="02020603050405020304" pitchFamily="18" charset="0"/>
                <a:cs typeface="Times New Roman" panose="02020603050405020304" pitchFamily="18" charset="0"/>
              </a:rPr>
              <a:t>Comparing Proportions</a:t>
            </a:r>
            <a:r>
              <a:rPr lang="en-US" dirty="0">
                <a:latin typeface="Times New Roman" panose="02020603050405020304" pitchFamily="18" charset="0"/>
                <a:cs typeface="Times New Roman" panose="02020603050405020304" pitchFamily="18" charset="0"/>
              </a:rPr>
              <a:t>: Quickly showing the proportion of each category relative to the whole.</a:t>
            </a:r>
          </a:p>
          <a:p>
            <a:r>
              <a:rPr lang="en-US" b="1" dirty="0">
                <a:latin typeface="Times New Roman" panose="02020603050405020304" pitchFamily="18" charset="0"/>
                <a:cs typeface="Times New Roman" panose="02020603050405020304" pitchFamily="18" charset="0"/>
              </a:rPr>
              <a:t>Identifying Patterns</a:t>
            </a:r>
            <a:r>
              <a:rPr lang="en-US" dirty="0">
                <a:latin typeface="Times New Roman" panose="02020603050405020304" pitchFamily="18" charset="0"/>
                <a:cs typeface="Times New Roman" panose="02020603050405020304" pitchFamily="18" charset="0"/>
              </a:rPr>
              <a:t>: Highlighting patterns and relationships in large datasets.</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Visualizing sales data for different product categories and subcategories, where the size of each rectangle represents the total sales and the color indicates profit margins.</a:t>
            </a:r>
          </a:p>
        </p:txBody>
      </p:sp>
    </p:spTree>
    <p:extLst>
      <p:ext uri="{BB962C8B-B14F-4D97-AF65-F5344CB8AC3E}">
        <p14:creationId xmlns:p14="http://schemas.microsoft.com/office/powerpoint/2010/main" val="38746240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5960" y="814812"/>
            <a:ext cx="9648652" cy="5096410"/>
          </a:xfrm>
        </p:spPr>
        <p:txBody>
          <a:bodyPr>
            <a:normAutofit/>
          </a:bodyPr>
          <a:lstStyle/>
          <a:p>
            <a:r>
              <a:rPr lang="en-US" b="1" dirty="0">
                <a:latin typeface="Times New Roman" panose="02020603050405020304" pitchFamily="18" charset="0"/>
                <a:cs typeface="Times New Roman" panose="02020603050405020304" pitchFamily="18" charset="0"/>
              </a:rPr>
              <a:t>Build the Basic Chart:</a:t>
            </a:r>
          </a:p>
          <a:p>
            <a:r>
              <a:rPr lang="en-US" dirty="0">
                <a:latin typeface="Times New Roman" panose="02020603050405020304" pitchFamily="18" charset="0"/>
                <a:cs typeface="Times New Roman" panose="02020603050405020304" pitchFamily="18" charset="0"/>
              </a:rPr>
              <a:t>Drag the highest-level category dimension (e.g., Category) to the Rows shelf.</a:t>
            </a:r>
          </a:p>
          <a:p>
            <a:r>
              <a:rPr lang="en-US" dirty="0">
                <a:latin typeface="Times New Roman" panose="02020603050405020304" pitchFamily="18" charset="0"/>
                <a:cs typeface="Times New Roman" panose="02020603050405020304" pitchFamily="18" charset="0"/>
              </a:rPr>
              <a:t>Drag the next level category dimension (e.g., Sub-Category) to the Rows shelf, placing it to the right of the first dimension.</a:t>
            </a:r>
          </a:p>
          <a:p>
            <a:r>
              <a:rPr lang="en-US" dirty="0">
                <a:latin typeface="Times New Roman" panose="02020603050405020304" pitchFamily="18" charset="0"/>
                <a:cs typeface="Times New Roman" panose="02020603050405020304" pitchFamily="18" charset="0"/>
              </a:rPr>
              <a:t>Drag the measure you want to size the rectangles by (e.g., Sales) to the Columns shelf.</a:t>
            </a:r>
          </a:p>
          <a:p>
            <a:r>
              <a:rPr lang="en-US" b="1" dirty="0">
                <a:latin typeface="Times New Roman" panose="02020603050405020304" pitchFamily="18" charset="0"/>
                <a:cs typeface="Times New Roman" panose="02020603050405020304" pitchFamily="18" charset="0"/>
              </a:rPr>
              <a:t>Convert to Tree Map:</a:t>
            </a:r>
          </a:p>
          <a:p>
            <a:r>
              <a:rPr lang="en-US" dirty="0">
                <a:latin typeface="Times New Roman" panose="02020603050405020304" pitchFamily="18" charset="0"/>
                <a:cs typeface="Times New Roman" panose="02020603050405020304" pitchFamily="18" charset="0"/>
              </a:rPr>
              <a:t>Select Tree Map from the Show Me panel.</a:t>
            </a:r>
          </a:p>
          <a:p>
            <a:r>
              <a:rPr lang="en-US" b="1" dirty="0">
                <a:latin typeface="Times New Roman" panose="02020603050405020304" pitchFamily="18" charset="0"/>
                <a:cs typeface="Times New Roman" panose="02020603050405020304" pitchFamily="18" charset="0"/>
              </a:rPr>
              <a:t>Color Coding:</a:t>
            </a:r>
          </a:p>
          <a:p>
            <a:r>
              <a:rPr lang="en-US" dirty="0">
                <a:latin typeface="Times New Roman" panose="02020603050405020304" pitchFamily="18" charset="0"/>
                <a:cs typeface="Times New Roman" panose="02020603050405020304" pitchFamily="18" charset="0"/>
              </a:rPr>
              <a:t>Drag a measure (e.g., Profit) to the Color shelf to color the rectangles based on this measure.</a:t>
            </a:r>
          </a:p>
        </p:txBody>
      </p:sp>
    </p:spTree>
    <p:extLst>
      <p:ext uri="{BB962C8B-B14F-4D97-AF65-F5344CB8AC3E}">
        <p14:creationId xmlns:p14="http://schemas.microsoft.com/office/powerpoint/2010/main" val="1473175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0742" y="325926"/>
            <a:ext cx="9270577" cy="6108564"/>
          </a:xfrm>
          <a:prstGeom prst="rect">
            <a:avLst/>
          </a:prstGeom>
        </p:spPr>
      </p:pic>
    </p:spTree>
    <p:extLst>
      <p:ext uri="{BB962C8B-B14F-4D97-AF65-F5344CB8AC3E}">
        <p14:creationId xmlns:p14="http://schemas.microsoft.com/office/powerpoint/2010/main" val="2550122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861" y="615057"/>
            <a:ext cx="8911687" cy="1280890"/>
          </a:xfrm>
        </p:spPr>
        <p:txBody>
          <a:bodyPr/>
          <a:lstStyle/>
          <a:p>
            <a:r>
              <a:rPr lang="en-US" dirty="0">
                <a:latin typeface="Times New Roman" panose="02020603050405020304" pitchFamily="18" charset="0"/>
                <a:cs typeface="Times New Roman" panose="02020603050405020304" pitchFamily="18" charset="0"/>
              </a:rPr>
              <a:t>Bubble Chart</a:t>
            </a:r>
          </a:p>
        </p:txBody>
      </p:sp>
      <p:sp>
        <p:nvSpPr>
          <p:cNvPr id="3" name="Content Placeholder 2"/>
          <p:cNvSpPr>
            <a:spLocks noGrp="1"/>
          </p:cNvSpPr>
          <p:nvPr>
            <p:ph idx="1"/>
          </p:nvPr>
        </p:nvSpPr>
        <p:spPr>
          <a:xfrm>
            <a:off x="1904861" y="1400269"/>
            <a:ext cx="8915400" cy="3777622"/>
          </a:xfrm>
        </p:spPr>
        <p:txBody>
          <a:bodyPr>
            <a:normAutofit/>
          </a:bodyPr>
          <a:lstStyle/>
          <a:p>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A bubble chart is a type of chart that displays three dimensions of data. Each point is represented by a bubble, where the x-axis and y-axis represent two dimensions, and the size of the bubble represents the third dimension. It is useful for showing relationships and comparisons between three different variables.</a:t>
            </a:r>
          </a:p>
          <a:p>
            <a:r>
              <a:rPr lang="en-US" b="1" dirty="0">
                <a:latin typeface="Times New Roman" panose="02020603050405020304" pitchFamily="18" charset="0"/>
                <a:cs typeface="Times New Roman" panose="02020603050405020304" pitchFamily="18" charset="0"/>
              </a:rPr>
              <a:t>Uses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Comparing Relationships</a:t>
            </a:r>
            <a:r>
              <a:rPr lang="en-US" dirty="0">
                <a:latin typeface="Times New Roman" panose="02020603050405020304" pitchFamily="18" charset="0"/>
                <a:cs typeface="Times New Roman" panose="02020603050405020304" pitchFamily="18" charset="0"/>
              </a:rPr>
              <a:t>: Highlighting the relationship between three different variables.</a:t>
            </a:r>
          </a:p>
          <a:p>
            <a:r>
              <a:rPr lang="en-US" b="1" dirty="0">
                <a:latin typeface="Times New Roman" panose="02020603050405020304" pitchFamily="18" charset="0"/>
                <a:cs typeface="Times New Roman" panose="02020603050405020304" pitchFamily="18" charset="0"/>
              </a:rPr>
              <a:t>Visualizing Data Density</a:t>
            </a:r>
            <a:r>
              <a:rPr lang="en-US" dirty="0">
                <a:latin typeface="Times New Roman" panose="02020603050405020304" pitchFamily="18" charset="0"/>
                <a:cs typeface="Times New Roman" panose="02020603050405020304" pitchFamily="18" charset="0"/>
              </a:rPr>
              <a:t>: Showing data density and distribution across different categories.</a:t>
            </a:r>
          </a:p>
          <a:p>
            <a:r>
              <a:rPr lang="en-US" b="1" dirty="0">
                <a:latin typeface="Times New Roman" panose="02020603050405020304" pitchFamily="18" charset="0"/>
                <a:cs typeface="Times New Roman" panose="02020603050405020304" pitchFamily="18" charset="0"/>
              </a:rPr>
              <a:t>Identifying Outliers</a:t>
            </a:r>
            <a:r>
              <a:rPr lang="en-US" dirty="0">
                <a:latin typeface="Times New Roman" panose="02020603050405020304" pitchFamily="18" charset="0"/>
                <a:cs typeface="Times New Roman" panose="02020603050405020304" pitchFamily="18" charset="0"/>
              </a:rPr>
              <a:t>: Easily spotting outliers and patterns in the data.</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Visualizing sales performance where the x-axis represents sales, the y-axis represents profit, and the bubble size represents the number of orders.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629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1105" y="724277"/>
            <a:ext cx="9793507" cy="5604095"/>
          </a:xfrm>
        </p:spPr>
        <p:txBody>
          <a:bodyPr>
            <a:normAutofit/>
          </a:bodyPr>
          <a:lstStyle/>
          <a:p>
            <a:r>
              <a:rPr lang="en-US" b="1" dirty="0"/>
              <a:t>Build the Basic Chart:</a:t>
            </a:r>
          </a:p>
          <a:p>
            <a:r>
              <a:rPr lang="en-US" dirty="0"/>
              <a:t>Drag the measure for the x-axis (e.g., Sales) to the Columns shelf.</a:t>
            </a:r>
          </a:p>
          <a:p>
            <a:r>
              <a:rPr lang="en-US" dirty="0"/>
              <a:t>Drag the measure for the y-axis (e.g., Profit) to the Rows shelf.</a:t>
            </a:r>
          </a:p>
          <a:p>
            <a:r>
              <a:rPr lang="en-US" b="1" dirty="0"/>
              <a:t>Convert to Bubble Chart:</a:t>
            </a:r>
          </a:p>
          <a:p>
            <a:r>
              <a:rPr lang="en-US" dirty="0"/>
              <a:t>Change the mark type from Automatic to Circle in the Marks card.</a:t>
            </a:r>
          </a:p>
          <a:p>
            <a:r>
              <a:rPr lang="en-US" dirty="0"/>
              <a:t>Add Bubble Size:</a:t>
            </a:r>
          </a:p>
          <a:p>
            <a:r>
              <a:rPr lang="en-US" dirty="0"/>
              <a:t>Drag the measure you want to use for bubble size (e.g., Number of Orders) to the Size shelf in the Marks card.</a:t>
            </a:r>
          </a:p>
          <a:p>
            <a:r>
              <a:rPr lang="en-US" b="1" dirty="0"/>
              <a:t>Color Coding (Optional):</a:t>
            </a:r>
          </a:p>
          <a:p>
            <a:r>
              <a:rPr lang="en-US" dirty="0"/>
              <a:t>Drag a dimension or measure (e.g., Region or Category) to the Color shelf to color-code the bubbles.</a:t>
            </a:r>
          </a:p>
        </p:txBody>
      </p:sp>
    </p:spTree>
    <p:extLst>
      <p:ext uri="{BB962C8B-B14F-4D97-AF65-F5344CB8AC3E}">
        <p14:creationId xmlns:p14="http://schemas.microsoft.com/office/powerpoint/2010/main" val="1577158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91762" y="91383"/>
            <a:ext cx="7288040" cy="7196367"/>
          </a:xfrm>
          <a:prstGeom prst="rect">
            <a:avLst/>
          </a:prstGeom>
        </p:spPr>
      </p:pic>
    </p:spTree>
    <p:extLst>
      <p:ext uri="{BB962C8B-B14F-4D97-AF65-F5344CB8AC3E}">
        <p14:creationId xmlns:p14="http://schemas.microsoft.com/office/powerpoint/2010/main" val="26768189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6373" y="669956"/>
            <a:ext cx="9748240" cy="1235044"/>
          </a:xfrm>
        </p:spPr>
        <p:txBody>
          <a:bodyPr/>
          <a:lstStyle/>
          <a:p>
            <a:r>
              <a:rPr lang="en-US" dirty="0">
                <a:latin typeface="Times New Roman" panose="02020603050405020304" pitchFamily="18" charset="0"/>
                <a:cs typeface="Times New Roman" panose="02020603050405020304" pitchFamily="18" charset="0"/>
              </a:rPr>
              <a:t>Word map (Word Cloud)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6373" y="1629624"/>
            <a:ext cx="9295566" cy="4200117"/>
          </a:xfrm>
        </p:spPr>
        <p:txBody>
          <a:bodyPr/>
          <a:lstStyle/>
          <a:p>
            <a:r>
              <a:rPr lang="en-US" dirty="0">
                <a:latin typeface="Times New Roman" panose="02020603050405020304" pitchFamily="18" charset="0"/>
                <a:cs typeface="Times New Roman" panose="02020603050405020304" pitchFamily="18" charset="0"/>
              </a:rPr>
              <a:t>A word map, also known as a word cloud, is a visual representation of text data where the size of each word indicates its frequency or importance. It's a way to highlight the most prominent terms within a body of text.</a:t>
            </a:r>
          </a:p>
          <a:p>
            <a:r>
              <a:rPr lang="en-US" b="1" dirty="0">
                <a:latin typeface="Times New Roman" panose="02020603050405020304" pitchFamily="18" charset="0"/>
                <a:cs typeface="Times New Roman" panose="02020603050405020304" pitchFamily="18" charset="0"/>
              </a:rPr>
              <a:t>Uses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Text Analysis</a:t>
            </a:r>
            <a:r>
              <a:rPr lang="en-US" dirty="0">
                <a:latin typeface="Times New Roman" panose="02020603050405020304" pitchFamily="18" charset="0"/>
                <a:cs typeface="Times New Roman" panose="02020603050405020304" pitchFamily="18" charset="0"/>
              </a:rPr>
              <a:t>: Summarizing large text datasets by highlighting the most frequent words.</a:t>
            </a:r>
          </a:p>
          <a:p>
            <a:r>
              <a:rPr lang="en-US" b="1" dirty="0">
                <a:latin typeface="Times New Roman" panose="02020603050405020304" pitchFamily="18" charset="0"/>
                <a:cs typeface="Times New Roman" panose="02020603050405020304" pitchFamily="18" charset="0"/>
              </a:rPr>
              <a:t>Marketing</a:t>
            </a:r>
            <a:r>
              <a:rPr lang="en-US" dirty="0">
                <a:latin typeface="Times New Roman" panose="02020603050405020304" pitchFamily="18" charset="0"/>
                <a:cs typeface="Times New Roman" panose="02020603050405020304" pitchFamily="18" charset="0"/>
              </a:rPr>
              <a:t>: Visualizing customer feedback, reviews, or social media mentions to understand common themes.</a:t>
            </a:r>
          </a:p>
          <a:p>
            <a:r>
              <a:rPr lang="en-US" b="1" dirty="0">
                <a:latin typeface="Times New Roman" panose="02020603050405020304" pitchFamily="18" charset="0"/>
                <a:cs typeface="Times New Roman" panose="02020603050405020304" pitchFamily="18" charset="0"/>
              </a:rPr>
              <a:t>Content Creation</a:t>
            </a:r>
            <a:r>
              <a:rPr lang="en-US" dirty="0">
                <a:latin typeface="Times New Roman" panose="02020603050405020304" pitchFamily="18" charset="0"/>
                <a:cs typeface="Times New Roman" panose="02020603050405020304" pitchFamily="18" charset="0"/>
              </a:rPr>
              <a:t>: Identifying key topics or keywords in articles, blogs, or other written content.</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Visualizing the most common words in customer feedback to identify key areas of concern or satisfaction.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7340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819728" y="774607"/>
            <a:ext cx="8809039" cy="4738954"/>
          </a:xfrm>
          <a:prstGeom prst="rect">
            <a:avLst/>
          </a:prstGeom>
        </p:spPr>
      </p:pic>
    </p:spTree>
    <p:extLst>
      <p:ext uri="{BB962C8B-B14F-4D97-AF65-F5344CB8AC3E}">
        <p14:creationId xmlns:p14="http://schemas.microsoft.com/office/powerpoint/2010/main" val="3834019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648" y="633163"/>
            <a:ext cx="8911687" cy="1280890"/>
          </a:xfrm>
        </p:spPr>
        <p:txBody>
          <a:bodyPr/>
          <a:lstStyle/>
          <a:p>
            <a:r>
              <a:rPr lang="en-US" dirty="0">
                <a:latin typeface="Times New Roman" panose="02020603050405020304" pitchFamily="18" charset="0"/>
                <a:cs typeface="Times New Roman" panose="02020603050405020304" pitchFamily="18" charset="0"/>
              </a:rPr>
              <a:t>Box Plot</a:t>
            </a:r>
          </a:p>
        </p:txBody>
      </p:sp>
      <p:sp>
        <p:nvSpPr>
          <p:cNvPr id="3" name="Content Placeholder 2"/>
          <p:cNvSpPr>
            <a:spLocks noGrp="1"/>
          </p:cNvSpPr>
          <p:nvPr>
            <p:ph idx="1"/>
          </p:nvPr>
        </p:nvSpPr>
        <p:spPr>
          <a:xfrm>
            <a:off x="1864935" y="1273608"/>
            <a:ext cx="8915400" cy="3777622"/>
          </a:xfrm>
        </p:spPr>
        <p:txBody>
          <a:bodyPr>
            <a:normAutofit/>
          </a:bodyPr>
          <a:lstStyle/>
          <a:p>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A box plot, also known as a whisker plot, is a standardized way of displaying the distribution of data based on a five-number summary: minimum, first quartile (Q1), median (Q2), third quartile (Q3), and maximum. It shows the spread and </a:t>
            </a:r>
            <a:r>
              <a:rPr lang="en-US" dirty="0" err="1">
                <a:latin typeface="Times New Roman" panose="02020603050405020304" pitchFamily="18" charset="0"/>
                <a:cs typeface="Times New Roman" panose="02020603050405020304" pitchFamily="18" charset="0"/>
              </a:rPr>
              <a:t>skewness</a:t>
            </a:r>
            <a:r>
              <a:rPr lang="en-US" dirty="0">
                <a:latin typeface="Times New Roman" panose="02020603050405020304" pitchFamily="18" charset="0"/>
                <a:cs typeface="Times New Roman" panose="02020603050405020304" pitchFamily="18" charset="0"/>
              </a:rPr>
              <a:t> of the data and identifies outliers.</a:t>
            </a:r>
          </a:p>
          <a:p>
            <a:r>
              <a:rPr lang="en-US" b="1" dirty="0">
                <a:latin typeface="Times New Roman" panose="02020603050405020304" pitchFamily="18" charset="0"/>
                <a:cs typeface="Times New Roman" panose="02020603050405020304" pitchFamily="18" charset="0"/>
              </a:rPr>
              <a:t>Uses</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Identifying Outliers</a:t>
            </a:r>
            <a:r>
              <a:rPr lang="en-US" dirty="0">
                <a:latin typeface="Times New Roman" panose="02020603050405020304" pitchFamily="18" charset="0"/>
                <a:cs typeface="Times New Roman" panose="02020603050405020304" pitchFamily="18" charset="0"/>
              </a:rPr>
              <a:t>: Easily spotting outliers in the data.</a:t>
            </a:r>
          </a:p>
          <a:p>
            <a:r>
              <a:rPr lang="en-US" b="1" dirty="0">
                <a:latin typeface="Times New Roman" panose="02020603050405020304" pitchFamily="18" charset="0"/>
                <a:cs typeface="Times New Roman" panose="02020603050405020304" pitchFamily="18" charset="0"/>
              </a:rPr>
              <a:t>Understanding Distribution</a:t>
            </a:r>
            <a:r>
              <a:rPr lang="en-US" dirty="0">
                <a:latin typeface="Times New Roman" panose="02020603050405020304" pitchFamily="18" charset="0"/>
                <a:cs typeface="Times New Roman" panose="02020603050405020304" pitchFamily="18" charset="0"/>
              </a:rPr>
              <a:t>: Visualizing the spread and central tendency of data.</a:t>
            </a:r>
          </a:p>
          <a:p>
            <a:r>
              <a:rPr lang="en-US" b="1" dirty="0">
                <a:latin typeface="Times New Roman" panose="02020603050405020304" pitchFamily="18" charset="0"/>
                <a:cs typeface="Times New Roman" panose="02020603050405020304" pitchFamily="18" charset="0"/>
              </a:rPr>
              <a:t>Comparing Distributions</a:t>
            </a:r>
            <a:r>
              <a:rPr lang="en-US" dirty="0">
                <a:latin typeface="Times New Roman" panose="02020603050405020304" pitchFamily="18" charset="0"/>
                <a:cs typeface="Times New Roman" panose="02020603050405020304" pitchFamily="18" charset="0"/>
              </a:rPr>
              <a:t>: Comparing distributions across different categories or groups.</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Visualizing the distribution of sales across different product categories to identify trends, outliers, and the overall distribution.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2584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7319" y="887240"/>
            <a:ext cx="9757293" cy="5477346"/>
          </a:xfrm>
        </p:spPr>
        <p:txBody>
          <a:bodyPr>
            <a:normAutofit/>
          </a:bodyPr>
          <a:lstStyle/>
          <a:p>
            <a:r>
              <a:rPr lang="en-US" b="1" dirty="0">
                <a:latin typeface="Times New Roman" panose="02020603050405020304" pitchFamily="18" charset="0"/>
                <a:cs typeface="Times New Roman" panose="02020603050405020304" pitchFamily="18" charset="0"/>
              </a:rPr>
              <a:t>Build the Basic Chart:</a:t>
            </a:r>
          </a:p>
          <a:p>
            <a:r>
              <a:rPr lang="en-US" dirty="0">
                <a:latin typeface="Times New Roman" panose="02020603050405020304" pitchFamily="18" charset="0"/>
                <a:cs typeface="Times New Roman" panose="02020603050405020304" pitchFamily="18" charset="0"/>
              </a:rPr>
              <a:t>Drag the dimension you want to categorize by (e.g., Category) to the Columns shelf.</a:t>
            </a:r>
          </a:p>
          <a:p>
            <a:r>
              <a:rPr lang="en-US" dirty="0">
                <a:latin typeface="Times New Roman" panose="02020603050405020304" pitchFamily="18" charset="0"/>
                <a:cs typeface="Times New Roman" panose="02020603050405020304" pitchFamily="18" charset="0"/>
              </a:rPr>
              <a:t>Drag the measure you want to analyze (e.g., Sales) to the Rows shelf.</a:t>
            </a:r>
          </a:p>
          <a:p>
            <a:r>
              <a:rPr lang="en-US" dirty="0">
                <a:latin typeface="Times New Roman" panose="02020603050405020304" pitchFamily="18" charset="0"/>
                <a:cs typeface="Times New Roman" panose="02020603050405020304" pitchFamily="18" charset="0"/>
              </a:rPr>
              <a:t>Convert to Box Plot:</a:t>
            </a:r>
          </a:p>
          <a:p>
            <a:r>
              <a:rPr lang="en-US" dirty="0">
                <a:latin typeface="Times New Roman" panose="02020603050405020304" pitchFamily="18" charset="0"/>
                <a:cs typeface="Times New Roman" panose="02020603050405020304" pitchFamily="18" charset="0"/>
              </a:rPr>
              <a:t>Select the box plot option from the Show Me panel. If it's not directly available, ensure you have an axis for the measure and the dimension set up as described above.</a:t>
            </a:r>
          </a:p>
          <a:p>
            <a:r>
              <a:rPr lang="en-US" b="1" dirty="0">
                <a:latin typeface="Times New Roman" panose="02020603050405020304" pitchFamily="18" charset="0"/>
                <a:cs typeface="Times New Roman" panose="02020603050405020304" pitchFamily="18" charset="0"/>
              </a:rPr>
              <a:t>Add Box Plot:</a:t>
            </a:r>
          </a:p>
          <a:p>
            <a:r>
              <a:rPr lang="en-US" dirty="0">
                <a:latin typeface="Times New Roman" panose="02020603050405020304" pitchFamily="18" charset="0"/>
                <a:cs typeface="Times New Roman" panose="02020603050405020304" pitchFamily="18" charset="0"/>
              </a:rPr>
              <a:t>If the box plot does not automatically appear, you can manually add it:</a:t>
            </a:r>
          </a:p>
          <a:p>
            <a:r>
              <a:rPr lang="en-US" dirty="0">
                <a:latin typeface="Times New Roman" panose="02020603050405020304" pitchFamily="18" charset="0"/>
                <a:cs typeface="Times New Roman" panose="02020603050405020304" pitchFamily="18" charset="0"/>
              </a:rPr>
              <a:t>Right-click on the axis of the measure (e.g., Sales) and select Add Reference Line.</a:t>
            </a:r>
          </a:p>
          <a:p>
            <a:r>
              <a:rPr lang="en-US" dirty="0">
                <a:latin typeface="Times New Roman" panose="02020603050405020304" pitchFamily="18" charset="0"/>
                <a:cs typeface="Times New Roman" panose="02020603050405020304" pitchFamily="18" charset="0"/>
              </a:rPr>
              <a:t>Choose Box Plot from the reference line options.</a:t>
            </a:r>
          </a:p>
        </p:txBody>
      </p:sp>
    </p:spTree>
    <p:extLst>
      <p:ext uri="{BB962C8B-B14F-4D97-AF65-F5344CB8AC3E}">
        <p14:creationId xmlns:p14="http://schemas.microsoft.com/office/powerpoint/2010/main" val="27678421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5426" y="841972"/>
            <a:ext cx="9739186" cy="5821378"/>
          </a:xfrm>
        </p:spPr>
        <p:txBody>
          <a:bodyPr>
            <a:normAutofit/>
          </a:bodyPr>
          <a:lstStyle/>
          <a:p>
            <a:r>
              <a:rPr lang="en-US" dirty="0">
                <a:latin typeface="Times New Roman" panose="02020603050405020304" pitchFamily="18" charset="0"/>
                <a:cs typeface="Times New Roman" panose="02020603050405020304" pitchFamily="18" charset="0"/>
              </a:rPr>
              <a:t>A box plot, also known as a whisker plot, is a graphical representation of data that shows the distribution and variability of a dataset. It highlights key statistical measures and helps identify outliers. Here are the important points and terms to understand:</a:t>
            </a:r>
          </a:p>
          <a:p>
            <a:r>
              <a:rPr lang="en-US" b="1" dirty="0">
                <a:latin typeface="Times New Roman" panose="02020603050405020304" pitchFamily="18" charset="0"/>
                <a:cs typeface="Times New Roman" panose="02020603050405020304" pitchFamily="18" charset="0"/>
              </a:rPr>
              <a:t>Minimum:</a:t>
            </a:r>
          </a:p>
          <a:p>
            <a:r>
              <a:rPr lang="en-US" dirty="0">
                <a:latin typeface="Times New Roman" panose="02020603050405020304" pitchFamily="18" charset="0"/>
                <a:cs typeface="Times New Roman" panose="02020603050405020304" pitchFamily="18" charset="0"/>
              </a:rPr>
              <a:t>The smallest data point excluding any outliers.</a:t>
            </a:r>
          </a:p>
          <a:p>
            <a:r>
              <a:rPr lang="en-US" dirty="0">
                <a:latin typeface="Times New Roman" panose="02020603050405020304" pitchFamily="18" charset="0"/>
                <a:cs typeface="Times New Roman" panose="02020603050405020304" pitchFamily="18" charset="0"/>
              </a:rPr>
              <a:t>Represented by the lower end of the whisker.</a:t>
            </a:r>
          </a:p>
          <a:p>
            <a:r>
              <a:rPr lang="en-US" b="1" dirty="0">
                <a:latin typeface="Times New Roman" panose="02020603050405020304" pitchFamily="18" charset="0"/>
                <a:cs typeface="Times New Roman" panose="02020603050405020304" pitchFamily="18" charset="0"/>
              </a:rPr>
              <a:t>First Quartile (Q1):</a:t>
            </a:r>
          </a:p>
          <a:p>
            <a:r>
              <a:rPr lang="en-US" dirty="0">
                <a:latin typeface="Times New Roman" panose="02020603050405020304" pitchFamily="18" charset="0"/>
                <a:cs typeface="Times New Roman" panose="02020603050405020304" pitchFamily="18" charset="0"/>
              </a:rPr>
              <a:t>Also known as the lower quartile, it marks the 25th percentile of the data.</a:t>
            </a:r>
          </a:p>
          <a:p>
            <a:r>
              <a:rPr lang="en-US" dirty="0">
                <a:latin typeface="Times New Roman" panose="02020603050405020304" pitchFamily="18" charset="0"/>
                <a:cs typeface="Times New Roman" panose="02020603050405020304" pitchFamily="18" charset="0"/>
              </a:rPr>
              <a:t>This is the median of the lower half of the dataset.</a:t>
            </a:r>
          </a:p>
          <a:p>
            <a:r>
              <a:rPr lang="en-US" dirty="0">
                <a:latin typeface="Times New Roman" panose="02020603050405020304" pitchFamily="18" charset="0"/>
                <a:cs typeface="Times New Roman" panose="02020603050405020304" pitchFamily="18" charset="0"/>
              </a:rPr>
              <a:t>The bottom edge of the box.</a:t>
            </a:r>
          </a:p>
          <a:p>
            <a:r>
              <a:rPr lang="en-US" b="1" dirty="0">
                <a:latin typeface="Times New Roman" panose="02020603050405020304" pitchFamily="18" charset="0"/>
                <a:cs typeface="Times New Roman" panose="02020603050405020304" pitchFamily="18" charset="0"/>
              </a:rPr>
              <a:t>Median (Q2)</a:t>
            </a:r>
          </a:p>
          <a:p>
            <a:r>
              <a:rPr lang="en-US" dirty="0">
                <a:latin typeface="Times New Roman" panose="02020603050405020304" pitchFamily="18" charset="0"/>
                <a:cs typeface="Times New Roman" panose="02020603050405020304" pitchFamily="18" charset="0"/>
              </a:rPr>
              <a:t>The middle value of the dataset, dividing it into two equal parts.</a:t>
            </a:r>
          </a:p>
          <a:p>
            <a:r>
              <a:rPr lang="en-US" dirty="0">
                <a:latin typeface="Times New Roman" panose="02020603050405020304" pitchFamily="18" charset="0"/>
                <a:cs typeface="Times New Roman" panose="02020603050405020304" pitchFamily="18" charset="0"/>
              </a:rPr>
              <a:t>Also known as the second quartile or the 50th percentile.</a:t>
            </a:r>
          </a:p>
          <a:p>
            <a:r>
              <a:rPr lang="en-US" dirty="0">
                <a:latin typeface="Times New Roman" panose="02020603050405020304" pitchFamily="18" charset="0"/>
                <a:cs typeface="Times New Roman" panose="02020603050405020304" pitchFamily="18" charset="0"/>
              </a:rPr>
              <a:t>Represented by a line inside the box.</a:t>
            </a:r>
          </a:p>
        </p:txBody>
      </p:sp>
    </p:spTree>
    <p:extLst>
      <p:ext uri="{BB962C8B-B14F-4D97-AF65-F5344CB8AC3E}">
        <p14:creationId xmlns:p14="http://schemas.microsoft.com/office/powerpoint/2010/main" val="12249601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5838" y="860079"/>
            <a:ext cx="9838774" cy="5776111"/>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Third Quartile (Q3):</a:t>
            </a:r>
          </a:p>
          <a:p>
            <a:r>
              <a:rPr lang="en-US" dirty="0">
                <a:latin typeface="Times New Roman" panose="02020603050405020304" pitchFamily="18" charset="0"/>
                <a:cs typeface="Times New Roman" panose="02020603050405020304" pitchFamily="18" charset="0"/>
              </a:rPr>
              <a:t>Also known as the upper quartile, it marks the 75th percentile of the data.</a:t>
            </a:r>
          </a:p>
          <a:p>
            <a:r>
              <a:rPr lang="en-US" dirty="0">
                <a:latin typeface="Times New Roman" panose="02020603050405020304" pitchFamily="18" charset="0"/>
                <a:cs typeface="Times New Roman" panose="02020603050405020304" pitchFamily="18" charset="0"/>
              </a:rPr>
              <a:t>This is the median of the upper half of the dataset.</a:t>
            </a:r>
          </a:p>
          <a:p>
            <a:r>
              <a:rPr lang="en-US" dirty="0">
                <a:latin typeface="Times New Roman" panose="02020603050405020304" pitchFamily="18" charset="0"/>
                <a:cs typeface="Times New Roman" panose="02020603050405020304" pitchFamily="18" charset="0"/>
              </a:rPr>
              <a:t>The top edge of the box.</a:t>
            </a:r>
          </a:p>
          <a:p>
            <a:r>
              <a:rPr lang="en-US" b="1" dirty="0">
                <a:latin typeface="Times New Roman" panose="02020603050405020304" pitchFamily="18" charset="0"/>
                <a:cs typeface="Times New Roman" panose="02020603050405020304" pitchFamily="18" charset="0"/>
              </a:rPr>
              <a:t>Maximum:</a:t>
            </a:r>
          </a:p>
          <a:p>
            <a:r>
              <a:rPr lang="en-US" dirty="0">
                <a:latin typeface="Times New Roman" panose="02020603050405020304" pitchFamily="18" charset="0"/>
                <a:cs typeface="Times New Roman" panose="02020603050405020304" pitchFamily="18" charset="0"/>
              </a:rPr>
              <a:t>The largest data point excluding any outliers.</a:t>
            </a:r>
          </a:p>
          <a:p>
            <a:r>
              <a:rPr lang="en-US" dirty="0">
                <a:latin typeface="Times New Roman" panose="02020603050405020304" pitchFamily="18" charset="0"/>
                <a:cs typeface="Times New Roman" panose="02020603050405020304" pitchFamily="18" charset="0"/>
              </a:rPr>
              <a:t>Represented by the upper end of the whisker.</a:t>
            </a:r>
          </a:p>
          <a:p>
            <a:r>
              <a:rPr lang="en-US" b="1" dirty="0">
                <a:latin typeface="Times New Roman" panose="02020603050405020304" pitchFamily="18" charset="0"/>
                <a:cs typeface="Times New Roman" panose="02020603050405020304" pitchFamily="18" charset="0"/>
              </a:rPr>
              <a:t>Interquartile Range (IQR):</a:t>
            </a:r>
          </a:p>
          <a:p>
            <a:r>
              <a:rPr lang="en-US" dirty="0">
                <a:latin typeface="Times New Roman" panose="02020603050405020304" pitchFamily="18" charset="0"/>
                <a:cs typeface="Times New Roman" panose="02020603050405020304" pitchFamily="18" charset="0"/>
              </a:rPr>
              <a:t>The range between the first quartile (Q1) and the third quartile (Q3).</a:t>
            </a:r>
          </a:p>
          <a:p>
            <a:r>
              <a:rPr lang="en-US" dirty="0">
                <a:latin typeface="Times New Roman" panose="02020603050405020304" pitchFamily="18" charset="0"/>
                <a:cs typeface="Times New Roman" panose="02020603050405020304" pitchFamily="18" charset="0"/>
              </a:rPr>
              <a:t>IQR = Q3 - Q1</a:t>
            </a:r>
          </a:p>
          <a:p>
            <a:r>
              <a:rPr lang="en-US" dirty="0">
                <a:latin typeface="Times New Roman" panose="02020603050405020304" pitchFamily="18" charset="0"/>
                <a:cs typeface="Times New Roman" panose="02020603050405020304" pitchFamily="18" charset="0"/>
              </a:rPr>
              <a:t>It measures the spread of the middle 50% of the data.</a:t>
            </a:r>
          </a:p>
          <a:p>
            <a:r>
              <a:rPr lang="en-US" dirty="0">
                <a:latin typeface="Times New Roman" panose="02020603050405020304" pitchFamily="18" charset="0"/>
                <a:cs typeface="Times New Roman" panose="02020603050405020304" pitchFamily="18" charset="0"/>
              </a:rPr>
              <a:t>A larger IQR indicates more variability in the middle 50% of the data.</a:t>
            </a:r>
          </a:p>
          <a:p>
            <a:r>
              <a:rPr lang="en-US" b="1" dirty="0">
                <a:latin typeface="Times New Roman" panose="02020603050405020304" pitchFamily="18" charset="0"/>
                <a:cs typeface="Times New Roman" panose="02020603050405020304" pitchFamily="18" charset="0"/>
              </a:rPr>
              <a:t>Whiskers:</a:t>
            </a:r>
          </a:p>
          <a:p>
            <a:r>
              <a:rPr lang="en-US" dirty="0">
                <a:latin typeface="Times New Roman" panose="02020603050405020304" pitchFamily="18" charset="0"/>
                <a:cs typeface="Times New Roman" panose="02020603050405020304" pitchFamily="18" charset="0"/>
              </a:rPr>
              <a:t>Lines extending from the box to the smallest and largest values within 1.5 * IQR from the first and third quartiles, respectively.</a:t>
            </a:r>
          </a:p>
          <a:p>
            <a:r>
              <a:rPr lang="en-US" dirty="0">
                <a:latin typeface="Times New Roman" panose="02020603050405020304" pitchFamily="18" charset="0"/>
                <a:cs typeface="Times New Roman" panose="02020603050405020304" pitchFamily="18" charset="0"/>
              </a:rPr>
              <a:t>They show the range of the data excluding outliers.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474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5960" y="914399"/>
            <a:ext cx="9648652" cy="6083929"/>
          </a:xfrm>
        </p:spPr>
        <p:txBody>
          <a:bodyPr>
            <a:normAutofit/>
          </a:bodyPr>
          <a:lstStyle/>
          <a:p>
            <a:r>
              <a:rPr lang="en-US" b="1" dirty="0">
                <a:latin typeface="Times New Roman" panose="02020603050405020304" pitchFamily="18" charset="0"/>
                <a:cs typeface="Times New Roman" panose="02020603050405020304" pitchFamily="18" charset="0"/>
              </a:rPr>
              <a:t>Outliers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Data points that fall outside 1.5 * IQR above the third quartile or below the first quartile.</a:t>
            </a:r>
          </a:p>
          <a:p>
            <a:r>
              <a:rPr lang="en-US" dirty="0">
                <a:latin typeface="Times New Roman" panose="02020603050405020304" pitchFamily="18" charset="0"/>
                <a:cs typeface="Times New Roman" panose="02020603050405020304" pitchFamily="18" charset="0"/>
              </a:rPr>
              <a:t>Represented as individual points beyond the whiskers.</a:t>
            </a:r>
          </a:p>
          <a:p>
            <a:r>
              <a:rPr lang="en-US" dirty="0">
                <a:latin typeface="Times New Roman" panose="02020603050405020304" pitchFamily="18" charset="0"/>
                <a:cs typeface="Times New Roman" panose="02020603050405020304" pitchFamily="18" charset="0"/>
              </a:rPr>
              <a:t>They indicate variability and potential anomalies in the data.</a:t>
            </a:r>
          </a:p>
          <a:p>
            <a:r>
              <a:rPr lang="en-US" b="1" dirty="0">
                <a:latin typeface="Times New Roman" panose="02020603050405020304" pitchFamily="18" charset="0"/>
                <a:cs typeface="Times New Roman" panose="02020603050405020304" pitchFamily="18" charset="0"/>
              </a:rPr>
              <a:t>Box</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main part of the box plot, representing the IQR.</a:t>
            </a:r>
          </a:p>
          <a:p>
            <a:r>
              <a:rPr lang="en-US" dirty="0">
                <a:latin typeface="Times New Roman" panose="02020603050405020304" pitchFamily="18" charset="0"/>
                <a:cs typeface="Times New Roman" panose="02020603050405020304" pitchFamily="18" charset="0"/>
              </a:rPr>
              <a:t>Contains 50% of the data points, providing a visual representation of data spread and central tendency.</a:t>
            </a:r>
          </a:p>
          <a:p>
            <a:r>
              <a:rPr lang="en-US" b="1" dirty="0">
                <a:latin typeface="Times New Roman" panose="02020603050405020304" pitchFamily="18" charset="0"/>
                <a:cs typeface="Times New Roman" panose="02020603050405020304" pitchFamily="18" charset="0"/>
              </a:rPr>
              <a:t>Visual Representation</a:t>
            </a:r>
          </a:p>
          <a:p>
            <a:r>
              <a:rPr lang="en-US" dirty="0">
                <a:latin typeface="Times New Roman" panose="02020603050405020304" pitchFamily="18" charset="0"/>
                <a:cs typeface="Times New Roman" panose="02020603050405020304" pitchFamily="18" charset="0"/>
              </a:rPr>
              <a:t>The box in the box plot represents the middle 50% of the data (IQR).</a:t>
            </a:r>
          </a:p>
          <a:p>
            <a:r>
              <a:rPr lang="en-US" dirty="0">
                <a:latin typeface="Times New Roman" panose="02020603050405020304" pitchFamily="18" charset="0"/>
                <a:cs typeface="Times New Roman" panose="02020603050405020304" pitchFamily="18" charset="0"/>
              </a:rPr>
              <a:t>The line inside the box is the median (Q2).</a:t>
            </a:r>
          </a:p>
          <a:p>
            <a:r>
              <a:rPr lang="en-US" dirty="0">
                <a:latin typeface="Times New Roman" panose="02020603050405020304" pitchFamily="18" charset="0"/>
                <a:cs typeface="Times New Roman" panose="02020603050405020304" pitchFamily="18" charset="0"/>
              </a:rPr>
              <a:t>The whiskers extend to the minimum and maximum values within 1.5 * IQR from Q1 and Q3, respectively.</a:t>
            </a:r>
          </a:p>
          <a:p>
            <a:r>
              <a:rPr lang="en-US" dirty="0">
                <a:latin typeface="Times New Roman" panose="02020603050405020304" pitchFamily="18" charset="0"/>
                <a:cs typeface="Times New Roman" panose="02020603050405020304" pitchFamily="18" charset="0"/>
              </a:rPr>
              <a:t>Outliers are plotted as individual points beyond the whiskers.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3542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73817" y="724062"/>
            <a:ext cx="6902805" cy="4667490"/>
          </a:xfrm>
          <a:prstGeom prst="rect">
            <a:avLst/>
          </a:prstGeom>
        </p:spPr>
      </p:pic>
    </p:spTree>
    <p:extLst>
      <p:ext uri="{BB962C8B-B14F-4D97-AF65-F5344CB8AC3E}">
        <p14:creationId xmlns:p14="http://schemas.microsoft.com/office/powerpoint/2010/main" val="605501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915" y="633164"/>
            <a:ext cx="8911687" cy="1280890"/>
          </a:xfrm>
        </p:spPr>
        <p:txBody>
          <a:bodyPr/>
          <a:lstStyle/>
          <a:p>
            <a:r>
              <a:rPr lang="en-US" dirty="0">
                <a:latin typeface="Times New Roman" panose="02020603050405020304" pitchFamily="18" charset="0"/>
                <a:cs typeface="Times New Roman" panose="02020603050405020304" pitchFamily="18" charset="0"/>
              </a:rPr>
              <a:t>Actions</a:t>
            </a:r>
          </a:p>
        </p:txBody>
      </p:sp>
      <p:sp>
        <p:nvSpPr>
          <p:cNvPr id="3" name="Content Placeholder 2"/>
          <p:cNvSpPr>
            <a:spLocks noGrp="1"/>
          </p:cNvSpPr>
          <p:nvPr>
            <p:ph idx="1"/>
          </p:nvPr>
        </p:nvSpPr>
        <p:spPr>
          <a:xfrm>
            <a:off x="1910202" y="1662820"/>
            <a:ext cx="8915400" cy="3777622"/>
          </a:xfrm>
        </p:spPr>
        <p:txBody>
          <a:bodyPr>
            <a:normAutofit/>
          </a:bodyPr>
          <a:lstStyle/>
          <a:p>
            <a:r>
              <a:rPr lang="en-US" sz="2000" dirty="0">
                <a:latin typeface="Times New Roman" panose="02020603050405020304" pitchFamily="18" charset="0"/>
                <a:cs typeface="Times New Roman" panose="02020603050405020304" pitchFamily="18" charset="0"/>
              </a:rPr>
              <a:t>Actions are interactive elements that allow users to control the behavior of their dashboards and worksheets. Actions can be used to create interactive and dynamic visualizations, enhancing user experience and providing deeper insights. There are several types of actions in Tableau, each serving different purposes:</a:t>
            </a:r>
          </a:p>
        </p:txBody>
      </p:sp>
    </p:spTree>
    <p:extLst>
      <p:ext uri="{BB962C8B-B14F-4D97-AF65-F5344CB8AC3E}">
        <p14:creationId xmlns:p14="http://schemas.microsoft.com/office/powerpoint/2010/main" val="3176756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754" y="606003"/>
            <a:ext cx="8911687" cy="1280890"/>
          </a:xfrm>
        </p:spPr>
        <p:txBody>
          <a:bodyPr/>
          <a:lstStyle/>
          <a:p>
            <a:r>
              <a:rPr lang="en-US" dirty="0">
                <a:latin typeface="Times New Roman" panose="02020603050405020304" pitchFamily="18" charset="0"/>
                <a:cs typeface="Times New Roman" panose="02020603050405020304" pitchFamily="18" charset="0"/>
              </a:rPr>
              <a:t>Types of Actions in Tableau</a:t>
            </a:r>
          </a:p>
        </p:txBody>
      </p:sp>
      <p:sp>
        <p:nvSpPr>
          <p:cNvPr id="3" name="Content Placeholder 2"/>
          <p:cNvSpPr>
            <a:spLocks noGrp="1"/>
          </p:cNvSpPr>
          <p:nvPr>
            <p:ph idx="1"/>
          </p:nvPr>
        </p:nvSpPr>
        <p:spPr>
          <a:xfrm>
            <a:off x="1886754" y="1563231"/>
            <a:ext cx="8915400" cy="3777622"/>
          </a:xfrm>
        </p:spPr>
        <p:txBody>
          <a:bodyPr>
            <a:normAutofit/>
          </a:bodyPr>
          <a:lstStyle/>
          <a:p>
            <a:r>
              <a:rPr lang="en-US" sz="2000" b="1" dirty="0">
                <a:latin typeface="Times New Roman" panose="02020603050405020304" pitchFamily="18" charset="0"/>
                <a:cs typeface="Times New Roman" panose="02020603050405020304" pitchFamily="18" charset="0"/>
              </a:rPr>
              <a:t>Filter Actions</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Description</a:t>
            </a:r>
            <a:r>
              <a:rPr lang="en-US" sz="2000" dirty="0">
                <a:latin typeface="Times New Roman" panose="02020603050405020304" pitchFamily="18" charset="0"/>
                <a:cs typeface="Times New Roman" panose="02020603050405020304" pitchFamily="18" charset="0"/>
              </a:rPr>
              <a:t>: Allows users to filter data in one or more target sheets based on selections in a source sheet.</a:t>
            </a:r>
          </a:p>
          <a:p>
            <a:r>
              <a:rPr lang="en-US" sz="2000" b="1" dirty="0">
                <a:latin typeface="Times New Roman" panose="02020603050405020304" pitchFamily="18" charset="0"/>
                <a:cs typeface="Times New Roman" panose="02020603050405020304" pitchFamily="18" charset="0"/>
              </a:rPr>
              <a:t>Use Case</a:t>
            </a:r>
            <a:r>
              <a:rPr lang="en-US" sz="2000" dirty="0">
                <a:latin typeface="Times New Roman" panose="02020603050405020304" pitchFamily="18" charset="0"/>
                <a:cs typeface="Times New Roman" panose="02020603050405020304" pitchFamily="18" charset="0"/>
              </a:rPr>
              <a:t>: Click on a region in a map to filter a bar chart to show data only for that region.</a:t>
            </a:r>
          </a:p>
        </p:txBody>
      </p:sp>
    </p:spTree>
    <p:extLst>
      <p:ext uri="{BB962C8B-B14F-4D97-AF65-F5344CB8AC3E}">
        <p14:creationId xmlns:p14="http://schemas.microsoft.com/office/powerpoint/2010/main" val="24199901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472" y="615056"/>
            <a:ext cx="8911687" cy="1280890"/>
          </a:xfrm>
        </p:spPr>
        <p:txBody>
          <a:bodyPr/>
          <a:lstStyle/>
          <a:p>
            <a:r>
              <a:rPr lang="en-US" dirty="0">
                <a:latin typeface="Times New Roman" panose="02020603050405020304" pitchFamily="18" charset="0"/>
                <a:cs typeface="Times New Roman" panose="02020603050405020304" pitchFamily="18" charset="0"/>
              </a:rPr>
              <a:t>Highlight Actions:</a:t>
            </a:r>
          </a:p>
        </p:txBody>
      </p:sp>
      <p:sp>
        <p:nvSpPr>
          <p:cNvPr id="3" name="Content Placeholder 2"/>
          <p:cNvSpPr>
            <a:spLocks noGrp="1"/>
          </p:cNvSpPr>
          <p:nvPr>
            <p:ph idx="1"/>
          </p:nvPr>
        </p:nvSpPr>
        <p:spPr>
          <a:xfrm>
            <a:off x="1665759" y="1581338"/>
            <a:ext cx="8915400" cy="3777622"/>
          </a:xfrm>
        </p:spPr>
        <p:txBody>
          <a:bodyPr>
            <a:normAutofit/>
          </a:bodyPr>
          <a:lstStyle/>
          <a:p>
            <a:r>
              <a:rPr lang="en-US" sz="2000" b="1" dirty="0">
                <a:latin typeface="Times New Roman" panose="02020603050405020304" pitchFamily="18" charset="0"/>
                <a:cs typeface="Times New Roman" panose="02020603050405020304" pitchFamily="18" charset="0"/>
              </a:rPr>
              <a:t>Highlight Actions</a:t>
            </a:r>
            <a:r>
              <a:rPr lang="en-US" sz="2000" dirty="0">
                <a:latin typeface="Times New Roman" panose="02020603050405020304" pitchFamily="18" charset="0"/>
                <a:cs typeface="Times New Roman" panose="02020603050405020304" pitchFamily="18" charset="0"/>
              </a:rPr>
              <a:t>: Description: Highlights related data across multiple views when a user hovers or clicks on a data point in the source sheet.</a:t>
            </a:r>
          </a:p>
          <a:p>
            <a:r>
              <a:rPr lang="en-US" sz="2000" dirty="0">
                <a:latin typeface="Times New Roman" panose="02020603050405020304" pitchFamily="18" charset="0"/>
                <a:cs typeface="Times New Roman" panose="02020603050405020304" pitchFamily="18" charset="0"/>
              </a:rPr>
              <a:t>Use Case: Hover over a category in a bar chart to highlight the corresponding data points in a scatter plot.</a:t>
            </a:r>
          </a:p>
        </p:txBody>
      </p:sp>
    </p:spTree>
    <p:extLst>
      <p:ext uri="{BB962C8B-B14F-4D97-AF65-F5344CB8AC3E}">
        <p14:creationId xmlns:p14="http://schemas.microsoft.com/office/powerpoint/2010/main" val="31192766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0541" y="651270"/>
            <a:ext cx="8911687" cy="1280890"/>
          </a:xfrm>
        </p:spPr>
        <p:txBody>
          <a:bodyPr/>
          <a:lstStyle/>
          <a:p>
            <a:r>
              <a:rPr lang="en-US" dirty="0">
                <a:latin typeface="Times New Roman" panose="02020603050405020304" pitchFamily="18" charset="0"/>
                <a:cs typeface="Times New Roman" panose="02020603050405020304" pitchFamily="18" charset="0"/>
              </a:rPr>
              <a:t>URL Actions:</a:t>
            </a:r>
          </a:p>
        </p:txBody>
      </p:sp>
      <p:sp>
        <p:nvSpPr>
          <p:cNvPr id="3" name="Content Placeholder 2"/>
          <p:cNvSpPr>
            <a:spLocks noGrp="1"/>
          </p:cNvSpPr>
          <p:nvPr>
            <p:ph idx="1"/>
          </p:nvPr>
        </p:nvSpPr>
        <p:spPr>
          <a:xfrm>
            <a:off x="1850541" y="1427430"/>
            <a:ext cx="8915400" cy="3777622"/>
          </a:xfrm>
        </p:spPr>
        <p:txBody>
          <a:bodyPr>
            <a:normAutofit/>
          </a:bodyPr>
          <a:lstStyle/>
          <a:p>
            <a:r>
              <a:rPr lang="en-US" sz="2000" dirty="0">
                <a:latin typeface="Times New Roman" panose="02020603050405020304" pitchFamily="18" charset="0"/>
                <a:cs typeface="Times New Roman" panose="02020603050405020304" pitchFamily="18" charset="0"/>
              </a:rPr>
              <a:t>Description: Opens a webpage or another resource based on selections in the source sheet.</a:t>
            </a:r>
          </a:p>
          <a:p>
            <a:r>
              <a:rPr lang="en-US" sz="2000" dirty="0">
                <a:latin typeface="Times New Roman" panose="02020603050405020304" pitchFamily="18" charset="0"/>
                <a:cs typeface="Times New Roman" panose="02020603050405020304" pitchFamily="18" charset="0"/>
              </a:rPr>
              <a:t>Use Case: Click on a customer name to open their profile page in a web browser.</a:t>
            </a:r>
          </a:p>
        </p:txBody>
      </p:sp>
    </p:spTree>
    <p:extLst>
      <p:ext uri="{BB962C8B-B14F-4D97-AF65-F5344CB8AC3E}">
        <p14:creationId xmlns:p14="http://schemas.microsoft.com/office/powerpoint/2010/main" val="755761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7853" y="624110"/>
            <a:ext cx="8911687" cy="1280890"/>
          </a:xfrm>
        </p:spPr>
        <p:txBody>
          <a:bodyPr/>
          <a:lstStyle/>
          <a:p>
            <a:r>
              <a:rPr lang="en-US" dirty="0">
                <a:latin typeface="Times New Roman" panose="02020603050405020304" pitchFamily="18" charset="0"/>
                <a:cs typeface="Times New Roman" panose="02020603050405020304" pitchFamily="18" charset="0"/>
              </a:rPr>
              <a:t>Go to Sheet Actions:</a:t>
            </a:r>
          </a:p>
        </p:txBody>
      </p:sp>
      <p:sp>
        <p:nvSpPr>
          <p:cNvPr id="3" name="Content Placeholder 2"/>
          <p:cNvSpPr>
            <a:spLocks noGrp="1"/>
          </p:cNvSpPr>
          <p:nvPr>
            <p:ph idx="1"/>
          </p:nvPr>
        </p:nvSpPr>
        <p:spPr>
          <a:xfrm>
            <a:off x="1837853" y="1602463"/>
            <a:ext cx="9666759" cy="4308759"/>
          </a:xfrm>
        </p:spPr>
        <p:txBody>
          <a:bodyPr/>
          <a:lstStyle/>
          <a:p>
            <a:r>
              <a:rPr lang="en-US" dirty="0">
                <a:latin typeface="Times New Roman" panose="02020603050405020304" pitchFamily="18" charset="0"/>
                <a:cs typeface="Times New Roman" panose="02020603050405020304" pitchFamily="18" charset="0"/>
              </a:rPr>
              <a:t>Description: Navigates from one sheet to another within a dashboard or workbook.</a:t>
            </a:r>
          </a:p>
          <a:p>
            <a:r>
              <a:rPr lang="en-US" dirty="0">
                <a:latin typeface="Times New Roman" panose="02020603050405020304" pitchFamily="18" charset="0"/>
                <a:cs typeface="Times New Roman" panose="02020603050405020304" pitchFamily="18" charset="0"/>
              </a:rPr>
              <a:t>Use Case: Click on a summary chart to navigate to a detailed view of the data.</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54125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2846" y="669377"/>
            <a:ext cx="8911687" cy="1280890"/>
          </a:xfrm>
        </p:spPr>
        <p:txBody>
          <a:bodyPr/>
          <a:lstStyle/>
          <a:p>
            <a:r>
              <a:rPr lang="en-US" dirty="0">
                <a:latin typeface="Times New Roman" panose="02020603050405020304" pitchFamily="18" charset="0"/>
                <a:cs typeface="Times New Roman" panose="02020603050405020304" pitchFamily="18" charset="0"/>
              </a:rPr>
              <a:t>Go to URL Actions:</a:t>
            </a:r>
          </a:p>
        </p:txBody>
      </p:sp>
      <p:sp>
        <p:nvSpPr>
          <p:cNvPr id="3" name="Content Placeholder 2"/>
          <p:cNvSpPr>
            <a:spLocks noGrp="1"/>
          </p:cNvSpPr>
          <p:nvPr>
            <p:ph idx="1"/>
          </p:nvPr>
        </p:nvSpPr>
        <p:spPr>
          <a:xfrm>
            <a:off x="1729133" y="2178867"/>
            <a:ext cx="8915400" cy="3777622"/>
          </a:xfrm>
        </p:spPr>
        <p:txBody>
          <a:bodyPr/>
          <a:lstStyle/>
          <a:p>
            <a:r>
              <a:rPr lang="en-US" dirty="0">
                <a:latin typeface="Times New Roman" panose="02020603050405020304" pitchFamily="18" charset="0"/>
                <a:cs typeface="Times New Roman" panose="02020603050405020304" pitchFamily="18" charset="0"/>
              </a:rPr>
              <a:t>Description: Similar to URL actions, but specifically used to navigate to external web pages directly.</a:t>
            </a:r>
          </a:p>
          <a:p>
            <a:r>
              <a:rPr lang="en-US" dirty="0">
                <a:latin typeface="Times New Roman" panose="02020603050405020304" pitchFamily="18" charset="0"/>
                <a:cs typeface="Times New Roman" panose="02020603050405020304" pitchFamily="18" charset="0"/>
              </a:rPr>
              <a:t>Use Case: Click on a specific data point to navigate to a related web page for more information.</a:t>
            </a:r>
          </a:p>
        </p:txBody>
      </p:sp>
    </p:spTree>
    <p:extLst>
      <p:ext uri="{BB962C8B-B14F-4D97-AF65-F5344CB8AC3E}">
        <p14:creationId xmlns:p14="http://schemas.microsoft.com/office/powerpoint/2010/main" val="1104997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471" y="542629"/>
            <a:ext cx="8911687" cy="1280890"/>
          </a:xfrm>
        </p:spPr>
        <p:txBody>
          <a:bodyPr/>
          <a:lstStyle/>
          <a:p>
            <a:r>
              <a:rPr lang="en-US" dirty="0">
                <a:latin typeface="Times New Roman" panose="02020603050405020304" pitchFamily="18" charset="0"/>
                <a:cs typeface="Times New Roman" panose="02020603050405020304" pitchFamily="18" charset="0"/>
              </a:rPr>
              <a:t>Dashboard in Tableau</a:t>
            </a:r>
          </a:p>
        </p:txBody>
      </p:sp>
      <p:sp>
        <p:nvSpPr>
          <p:cNvPr id="3" name="Content Placeholder 2"/>
          <p:cNvSpPr>
            <a:spLocks noGrp="1"/>
          </p:cNvSpPr>
          <p:nvPr>
            <p:ph idx="1"/>
          </p:nvPr>
        </p:nvSpPr>
        <p:spPr>
          <a:xfrm>
            <a:off x="1502875" y="1367073"/>
            <a:ext cx="10001737" cy="4544149"/>
          </a:xfrm>
        </p:spPr>
        <p:txBody>
          <a:bodyPr>
            <a:normAutofit/>
          </a:bodyPr>
          <a:lstStyle/>
          <a:p>
            <a:r>
              <a:rPr lang="en-US" dirty="0">
                <a:latin typeface="Times New Roman" panose="02020603050405020304" pitchFamily="18" charset="0"/>
                <a:cs typeface="Times New Roman" panose="02020603050405020304" pitchFamily="18" charset="0"/>
              </a:rPr>
              <a:t>Definition:</a:t>
            </a:r>
          </a:p>
          <a:p>
            <a:r>
              <a:rPr lang="en-US" dirty="0">
                <a:latin typeface="Times New Roman" panose="02020603050405020304" pitchFamily="18" charset="0"/>
                <a:cs typeface="Times New Roman" panose="02020603050405020304" pitchFamily="18" charset="0"/>
              </a:rPr>
              <a:t>A dashboard in Tableau is a collection of multiple views, visualizations, and other objects, such as images, text, and web pages, arranged on a single canvas to provide an at-a-glance overview of data. Dashboards are used to combine related data from various sources and present it in a cohesive, interactive format.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a:t>
            </a:r>
          </a:p>
          <a:p>
            <a:r>
              <a:rPr lang="en-US" dirty="0">
                <a:latin typeface="Times New Roman" panose="02020603050405020304" pitchFamily="18" charset="0"/>
                <a:cs typeface="Times New Roman" panose="02020603050405020304" pitchFamily="18" charset="0"/>
              </a:rPr>
              <a:t>Data Visualization: Displaying multiple visualizations that represent different aspects of the data.</a:t>
            </a:r>
          </a:p>
          <a:p>
            <a:r>
              <a:rPr lang="en-US" dirty="0">
                <a:latin typeface="Times New Roman" panose="02020603050405020304" pitchFamily="18" charset="0"/>
                <a:cs typeface="Times New Roman" panose="02020603050405020304" pitchFamily="18" charset="0"/>
              </a:rPr>
              <a:t>Interactivity: Allowing users to interact with the data through filters, highlights, and actions.</a:t>
            </a:r>
          </a:p>
          <a:p>
            <a:r>
              <a:rPr lang="en-US" dirty="0">
                <a:latin typeface="Times New Roman" panose="02020603050405020304" pitchFamily="18" charset="0"/>
                <a:cs typeface="Times New Roman" panose="02020603050405020304" pitchFamily="18" charset="0"/>
              </a:rPr>
              <a:t>Storytelling: Communicating a data-driven narrative by combining various visualizations.</a:t>
            </a:r>
          </a:p>
          <a:p>
            <a:r>
              <a:rPr lang="en-US" dirty="0">
                <a:latin typeface="Times New Roman" panose="02020603050405020304" pitchFamily="18" charset="0"/>
                <a:cs typeface="Times New Roman" panose="02020603050405020304" pitchFamily="18" charset="0"/>
              </a:rPr>
              <a:t>Decision Making: Providing actionable insights to help stakeholders make informed decisions.</a:t>
            </a:r>
          </a:p>
        </p:txBody>
      </p:sp>
    </p:spTree>
    <p:extLst>
      <p:ext uri="{BB962C8B-B14F-4D97-AF65-F5344CB8AC3E}">
        <p14:creationId xmlns:p14="http://schemas.microsoft.com/office/powerpoint/2010/main" val="40236829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Components of a Dashboard:</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Views/Visualizations: Different charts, graphs, and maps created in Tableau.</a:t>
            </a:r>
          </a:p>
          <a:p>
            <a:r>
              <a:rPr lang="en-US" dirty="0">
                <a:latin typeface="Times New Roman" panose="02020603050405020304" pitchFamily="18" charset="0"/>
                <a:cs typeface="Times New Roman" panose="02020603050405020304" pitchFamily="18" charset="0"/>
              </a:rPr>
              <a:t>Filters: Interactive controls that allow users to filter data across all views on the dashboard.</a:t>
            </a:r>
          </a:p>
          <a:p>
            <a:r>
              <a:rPr lang="en-US" dirty="0">
                <a:latin typeface="Times New Roman" panose="02020603050405020304" pitchFamily="18" charset="0"/>
                <a:cs typeface="Times New Roman" panose="02020603050405020304" pitchFamily="18" charset="0"/>
              </a:rPr>
              <a:t>Parameters: User-defined controls that dynamically change the visualizations.</a:t>
            </a:r>
          </a:p>
          <a:p>
            <a:r>
              <a:rPr lang="en-US" dirty="0">
                <a:latin typeface="Times New Roman" panose="02020603050405020304" pitchFamily="18" charset="0"/>
                <a:cs typeface="Times New Roman" panose="02020603050405020304" pitchFamily="18" charset="0"/>
              </a:rPr>
              <a:t>Legends: Keys that explain the colors, shapes, or sizes used in the visualizations.</a:t>
            </a:r>
          </a:p>
          <a:p>
            <a:r>
              <a:rPr lang="en-US" dirty="0">
                <a:latin typeface="Times New Roman" panose="02020603050405020304" pitchFamily="18" charset="0"/>
                <a:cs typeface="Times New Roman" panose="02020603050405020304" pitchFamily="18" charset="0"/>
              </a:rPr>
              <a:t>Text: Annotations, titles, captions, or instructions added to the dashboard.</a:t>
            </a:r>
          </a:p>
          <a:p>
            <a:r>
              <a:rPr lang="en-US" dirty="0">
                <a:latin typeface="Times New Roman" panose="02020603050405020304" pitchFamily="18" charset="0"/>
                <a:cs typeface="Times New Roman" panose="02020603050405020304" pitchFamily="18" charset="0"/>
              </a:rPr>
              <a:t>Images: Static graphics such as logos or explanatory images.</a:t>
            </a:r>
          </a:p>
          <a:p>
            <a:r>
              <a:rPr lang="en-US" dirty="0">
                <a:latin typeface="Times New Roman" panose="02020603050405020304" pitchFamily="18" charset="0"/>
                <a:cs typeface="Times New Roman" panose="02020603050405020304" pitchFamily="18" charset="0"/>
              </a:rPr>
              <a:t>Web Pages: Embedded web content that provides additional context or information.</a:t>
            </a:r>
          </a:p>
          <a:p>
            <a:r>
              <a:rPr lang="en-US" dirty="0">
                <a:latin typeface="Times New Roman" panose="02020603050405020304" pitchFamily="18" charset="0"/>
                <a:cs typeface="Times New Roman" panose="02020603050405020304" pitchFamily="18" charset="0"/>
              </a:rPr>
              <a:t>Actions: Interactive elements like filter actions, highlight actions, and URL actions that add interactivity to the dashboard.</a:t>
            </a:r>
          </a:p>
        </p:txBody>
      </p:sp>
    </p:spTree>
    <p:extLst>
      <p:ext uri="{BB962C8B-B14F-4D97-AF65-F5344CB8AC3E}">
        <p14:creationId xmlns:p14="http://schemas.microsoft.com/office/powerpoint/2010/main" val="9004795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273" y="587896"/>
            <a:ext cx="8911687" cy="1280890"/>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801560" y="2097386"/>
            <a:ext cx="8915400" cy="3777622"/>
          </a:xfrm>
        </p:spPr>
        <p:txBody>
          <a:bodyPr/>
          <a:lstStyle/>
          <a:p>
            <a:r>
              <a:rPr lang="en-US" dirty="0">
                <a:latin typeface="Times New Roman" panose="02020603050405020304" pitchFamily="18" charset="0"/>
                <a:cs typeface="Times New Roman" panose="02020603050405020304" pitchFamily="18" charset="0"/>
              </a:rPr>
              <a:t>Dashboards in Tableau are powerful tools for integrating multiple data visualizations into a single, interactive, and informative display. They enable users to explore data from various perspectives, derive insights, and make data-driven decisions effectively. By understanding how to create and use dashboards, you can maximize the impact of your data analysis and visualization efforts.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8540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159" y="660902"/>
            <a:ext cx="9784454" cy="1244097"/>
          </a:xfrm>
        </p:spPr>
        <p:txBody>
          <a:bodyPr/>
          <a:lstStyle/>
          <a:p>
            <a:r>
              <a:rPr lang="en-US" dirty="0">
                <a:latin typeface="Times New Roman" panose="02020603050405020304" pitchFamily="18" charset="0"/>
                <a:cs typeface="Times New Roman" panose="02020603050405020304" pitchFamily="18" charset="0"/>
              </a:rPr>
              <a:t>Story Points in Tableau</a:t>
            </a:r>
          </a:p>
        </p:txBody>
      </p:sp>
      <p:sp>
        <p:nvSpPr>
          <p:cNvPr id="3" name="Content Placeholder 2"/>
          <p:cNvSpPr>
            <a:spLocks noGrp="1"/>
          </p:cNvSpPr>
          <p:nvPr>
            <p:ph idx="1"/>
          </p:nvPr>
        </p:nvSpPr>
        <p:spPr>
          <a:xfrm>
            <a:off x="1720158" y="1385180"/>
            <a:ext cx="9784454" cy="4526042"/>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Definition:</a:t>
            </a:r>
          </a:p>
          <a:p>
            <a:r>
              <a:rPr lang="en-US" dirty="0">
                <a:latin typeface="Times New Roman" panose="02020603050405020304" pitchFamily="18" charset="0"/>
                <a:cs typeface="Times New Roman" panose="02020603050405020304" pitchFamily="18" charset="0"/>
              </a:rPr>
              <a:t>Story points in Tableau are a way to create a sequence of visualizations that work together to convey a narrative or guide users through an analysis. A story is a collection of sheets or dashboards arranged in a specific order, providing context and driving a specific message or insight.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a:t>
            </a:r>
          </a:p>
          <a:p>
            <a:r>
              <a:rPr lang="en-US" dirty="0">
                <a:latin typeface="Times New Roman" panose="02020603050405020304" pitchFamily="18" charset="0"/>
                <a:cs typeface="Times New Roman" panose="02020603050405020304" pitchFamily="18" charset="0"/>
              </a:rPr>
              <a:t>Data Storytelling: Presenting a data-driven narrative with a clear beginning, middle, and end.</a:t>
            </a:r>
          </a:p>
          <a:p>
            <a:r>
              <a:rPr lang="en-US" dirty="0">
                <a:latin typeface="Times New Roman" panose="02020603050405020304" pitchFamily="18" charset="0"/>
                <a:cs typeface="Times New Roman" panose="02020603050405020304" pitchFamily="18" charset="0"/>
              </a:rPr>
              <a:t>Guided Analysis: Leading users through a step-by-step exploration of data.</a:t>
            </a:r>
          </a:p>
          <a:p>
            <a:r>
              <a:rPr lang="en-US" dirty="0">
                <a:latin typeface="Times New Roman" panose="02020603050405020304" pitchFamily="18" charset="0"/>
                <a:cs typeface="Times New Roman" panose="02020603050405020304" pitchFamily="18" charset="0"/>
              </a:rPr>
              <a:t>Highlighting Key Insights: Emphasizing important findings and trends within the data.</a:t>
            </a:r>
          </a:p>
          <a:p>
            <a:r>
              <a:rPr lang="en-US" dirty="0">
                <a:latin typeface="Times New Roman" panose="02020603050405020304" pitchFamily="18" charset="0"/>
                <a:cs typeface="Times New Roman" panose="02020603050405020304" pitchFamily="18" charset="0"/>
              </a:rPr>
              <a:t>Interactive Reports: Allowing users to interact with each step of the story for deeper insights</a:t>
            </a:r>
          </a:p>
        </p:txBody>
      </p:sp>
    </p:spTree>
    <p:extLst>
      <p:ext uri="{BB962C8B-B14F-4D97-AF65-F5344CB8AC3E}">
        <p14:creationId xmlns:p14="http://schemas.microsoft.com/office/powerpoint/2010/main" val="42033718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Components of a Story:</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Story Points</a:t>
            </a:r>
            <a:r>
              <a:rPr lang="en-US" dirty="0">
                <a:latin typeface="Times New Roman" panose="02020603050405020304" pitchFamily="18" charset="0"/>
                <a:cs typeface="Times New Roman" panose="02020603050405020304" pitchFamily="18" charset="0"/>
              </a:rPr>
              <a:t>: Individual pages or slides within the story, each containing a visualization, text, or a combination.</a:t>
            </a:r>
          </a:p>
          <a:p>
            <a:r>
              <a:rPr lang="en-US" b="1" dirty="0">
                <a:latin typeface="Times New Roman" panose="02020603050405020304" pitchFamily="18" charset="0"/>
                <a:cs typeface="Times New Roman" panose="02020603050405020304" pitchFamily="18" charset="0"/>
              </a:rPr>
              <a:t>Navigator</a:t>
            </a:r>
            <a:r>
              <a:rPr lang="en-US" dirty="0">
                <a:latin typeface="Times New Roman" panose="02020603050405020304" pitchFamily="18" charset="0"/>
                <a:cs typeface="Times New Roman" panose="02020603050405020304" pitchFamily="18" charset="0"/>
              </a:rPr>
              <a:t>: A toolbar that allows users to move between story points.</a:t>
            </a:r>
          </a:p>
          <a:p>
            <a:r>
              <a:rPr lang="en-US" b="1" dirty="0">
                <a:latin typeface="Times New Roman" panose="02020603050405020304" pitchFamily="18" charset="0"/>
                <a:cs typeface="Times New Roman" panose="02020603050405020304" pitchFamily="18" charset="0"/>
              </a:rPr>
              <a:t>Annotations</a:t>
            </a:r>
            <a:r>
              <a:rPr lang="en-US" dirty="0">
                <a:latin typeface="Times New Roman" panose="02020603050405020304" pitchFamily="18" charset="0"/>
                <a:cs typeface="Times New Roman" panose="02020603050405020304" pitchFamily="18" charset="0"/>
              </a:rPr>
              <a:t>: Text boxes or callouts used to explain each story point.</a:t>
            </a:r>
          </a:p>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Story points in Tableau are an effective way to create a narrative flow that guides users through an analysis, helping to highlight key insights and drive home specific messages. By structuring your data in a story format, you can enhance the impact of your visualizations and provide a more engaging and informative experience for your audience.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09548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0693" y="597528"/>
            <a:ext cx="8915321" cy="1271257"/>
          </a:xfrm>
        </p:spPr>
        <p:txBody>
          <a:bodyPr/>
          <a:lstStyle/>
          <a:p>
            <a:r>
              <a:rPr lang="en-US" dirty="0">
                <a:latin typeface="Times New Roman" panose="02020603050405020304" pitchFamily="18" charset="0"/>
                <a:cs typeface="Times New Roman" panose="02020603050405020304" pitchFamily="18" charset="0"/>
              </a:rPr>
              <a:t>Joins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10693" y="1530036"/>
            <a:ext cx="8996802" cy="4344972"/>
          </a:xfrm>
        </p:spPr>
        <p:txBody>
          <a:bodyPr>
            <a:normAutofit/>
          </a:bodyPr>
          <a:lstStyle/>
          <a:p>
            <a:r>
              <a:rPr lang="en-US" dirty="0">
                <a:latin typeface="Times New Roman" panose="02020603050405020304" pitchFamily="18" charset="0"/>
                <a:cs typeface="Times New Roman" panose="02020603050405020304" pitchFamily="18" charset="0"/>
              </a:rPr>
              <a:t>Joins in Tableau are used to combine data from multiple tables into a single data source. This allows you to analyze and visualize data from different sources together. Tableau supports several types of joins, each with a specific purpose and use case.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Types of Joins</a:t>
            </a:r>
          </a:p>
          <a:p>
            <a:r>
              <a:rPr lang="en-US" dirty="0">
                <a:latin typeface="Times New Roman" panose="02020603050405020304" pitchFamily="18" charset="0"/>
                <a:cs typeface="Times New Roman" panose="02020603050405020304" pitchFamily="18" charset="0"/>
              </a:rPr>
              <a:t>Inner Join:</a:t>
            </a:r>
          </a:p>
          <a:p>
            <a:r>
              <a:rPr lang="en-US" dirty="0">
                <a:latin typeface="Times New Roman" panose="02020603050405020304" pitchFamily="18" charset="0"/>
                <a:cs typeface="Times New Roman" panose="02020603050405020304" pitchFamily="18" charset="0"/>
              </a:rPr>
              <a:t>Description: Returns only the rows where there is a match in both joined tables.</a:t>
            </a:r>
          </a:p>
          <a:p>
            <a:r>
              <a:rPr lang="en-US" dirty="0">
                <a:latin typeface="Times New Roman" panose="02020603050405020304" pitchFamily="18" charset="0"/>
                <a:cs typeface="Times New Roman" panose="02020603050405020304" pitchFamily="18" charset="0"/>
              </a:rPr>
              <a:t>Use Case: When you need to analyze only the common data between two tables.</a:t>
            </a:r>
          </a:p>
          <a:p>
            <a:r>
              <a:rPr lang="en-US" dirty="0">
                <a:latin typeface="Times New Roman" panose="02020603050405020304" pitchFamily="18" charset="0"/>
                <a:cs typeface="Times New Roman" panose="02020603050405020304" pitchFamily="18" charset="0"/>
              </a:rPr>
              <a:t>Example: Combining customer data with sales data where both tables have matching customer IDs.</a:t>
            </a:r>
          </a:p>
        </p:txBody>
      </p:sp>
    </p:spTree>
    <p:extLst>
      <p:ext uri="{BB962C8B-B14F-4D97-AF65-F5344CB8AC3E}">
        <p14:creationId xmlns:p14="http://schemas.microsoft.com/office/powerpoint/2010/main" val="5137091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6705" y="793687"/>
            <a:ext cx="8915400" cy="5652380"/>
          </a:xfrm>
        </p:spPr>
        <p:txBody>
          <a:bodyPr>
            <a:normAutofit/>
          </a:bodyPr>
          <a:lstStyle/>
          <a:p>
            <a:r>
              <a:rPr lang="en-US" dirty="0">
                <a:latin typeface="Times New Roman" panose="02020603050405020304" pitchFamily="18" charset="0"/>
                <a:cs typeface="Times New Roman" panose="02020603050405020304" pitchFamily="18" charset="0"/>
              </a:rPr>
              <a:t>Left Join:</a:t>
            </a:r>
          </a:p>
          <a:p>
            <a:r>
              <a:rPr lang="en-US" dirty="0">
                <a:latin typeface="Times New Roman" panose="02020603050405020304" pitchFamily="18" charset="0"/>
                <a:cs typeface="Times New Roman" panose="02020603050405020304" pitchFamily="18" charset="0"/>
              </a:rPr>
              <a:t>Description: Returns all rows from the left table and the matched rows from the right table. Unmatched rows from the right table will have NULL values.</a:t>
            </a:r>
          </a:p>
          <a:p>
            <a:r>
              <a:rPr lang="en-US" dirty="0">
                <a:latin typeface="Times New Roman" panose="02020603050405020304" pitchFamily="18" charset="0"/>
                <a:cs typeface="Times New Roman" panose="02020603050405020304" pitchFamily="18" charset="0"/>
              </a:rPr>
              <a:t>Use Case: When you want to retain all data from the primary table and add related data from the secondary table.</a:t>
            </a:r>
          </a:p>
          <a:p>
            <a:r>
              <a:rPr lang="en-US" dirty="0">
                <a:latin typeface="Times New Roman" panose="02020603050405020304" pitchFamily="18" charset="0"/>
                <a:cs typeface="Times New Roman" panose="02020603050405020304" pitchFamily="18" charset="0"/>
              </a:rPr>
              <a:t>Example: Combining a list of all products (left table) with sales data (right table) to show all products, including those that have not been sold.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Right Join:</a:t>
            </a:r>
          </a:p>
          <a:p>
            <a:r>
              <a:rPr lang="en-US" dirty="0">
                <a:latin typeface="Times New Roman" panose="02020603050405020304" pitchFamily="18" charset="0"/>
                <a:cs typeface="Times New Roman" panose="02020603050405020304" pitchFamily="18" charset="0"/>
              </a:rPr>
              <a:t>Description: Returns all rows from the right table and the matched rows from the left table. Unmatched rows from the left table will have NULL values.</a:t>
            </a:r>
          </a:p>
          <a:p>
            <a:r>
              <a:rPr lang="en-US" dirty="0">
                <a:latin typeface="Times New Roman" panose="02020603050405020304" pitchFamily="18" charset="0"/>
                <a:cs typeface="Times New Roman" panose="02020603050405020304" pitchFamily="18" charset="0"/>
              </a:rPr>
              <a:t>Use Case: When you want to retain all data from the secondary table and add related data from the primary table.</a:t>
            </a:r>
          </a:p>
          <a:p>
            <a:r>
              <a:rPr lang="en-US" dirty="0">
                <a:latin typeface="Times New Roman" panose="02020603050405020304" pitchFamily="18" charset="0"/>
                <a:cs typeface="Times New Roman" panose="02020603050405020304" pitchFamily="18" charset="0"/>
              </a:rPr>
              <a:t>Example: Combining sales data (right table) with customer data (left table) to show all sales, including those made to customers not in the customer list.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632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6372" y="796705"/>
            <a:ext cx="8933428" cy="5114517"/>
          </a:xfrm>
        </p:spPr>
        <p:txBody>
          <a:bodyPr/>
          <a:lstStyle/>
          <a:p>
            <a:r>
              <a:rPr lang="en-US" dirty="0">
                <a:latin typeface="Times New Roman" panose="02020603050405020304" pitchFamily="18" charset="0"/>
                <a:cs typeface="Times New Roman" panose="02020603050405020304" pitchFamily="18" charset="0"/>
              </a:rPr>
              <a:t>Full Outer Join:</a:t>
            </a:r>
          </a:p>
          <a:p>
            <a:r>
              <a:rPr lang="en-US" dirty="0">
                <a:latin typeface="Times New Roman" panose="02020603050405020304" pitchFamily="18" charset="0"/>
                <a:cs typeface="Times New Roman" panose="02020603050405020304" pitchFamily="18" charset="0"/>
              </a:rPr>
              <a:t>Description: Returns all rows when there is a match in one of the tables. Unmatched rows will have NULL values for the missing columns.</a:t>
            </a:r>
          </a:p>
          <a:p>
            <a:r>
              <a:rPr lang="en-US" dirty="0">
                <a:latin typeface="Times New Roman" panose="02020603050405020304" pitchFamily="18" charset="0"/>
                <a:cs typeface="Times New Roman" panose="02020603050405020304" pitchFamily="18" charset="0"/>
              </a:rPr>
              <a:t>Use Case: When you need a complete view of data from both tables, including unmatched rows from either table.</a:t>
            </a:r>
          </a:p>
          <a:p>
            <a:r>
              <a:rPr lang="en-US" dirty="0">
                <a:latin typeface="Times New Roman" panose="02020603050405020304" pitchFamily="18" charset="0"/>
                <a:cs typeface="Times New Roman" panose="02020603050405020304" pitchFamily="18" charset="0"/>
              </a:rPr>
              <a:t>Example: Combining customer data with sales data to show all customers and all sales, including customers with no sales and sales with no customer information.</a:t>
            </a:r>
          </a:p>
        </p:txBody>
      </p:sp>
    </p:spTree>
    <p:extLst>
      <p:ext uri="{BB962C8B-B14F-4D97-AF65-F5344CB8AC3E}">
        <p14:creationId xmlns:p14="http://schemas.microsoft.com/office/powerpoint/2010/main" val="22140296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88531183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7298</TotalTime>
  <Words>6573</Words>
  <Application>Microsoft Office PowerPoint</Application>
  <PresentationFormat>Widescreen</PresentationFormat>
  <Paragraphs>507</Paragraphs>
  <Slides>73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Century Gothic</vt:lpstr>
      <vt:lpstr>Times New Roman</vt:lpstr>
      <vt:lpstr>Wingdings 3</vt:lpstr>
      <vt:lpstr>Wisp</vt:lpstr>
      <vt:lpstr>Tableau</vt:lpstr>
      <vt:lpstr>What is Tableau</vt:lpstr>
      <vt:lpstr>Here are some key features and aspects of Tableau:</vt:lpstr>
      <vt:lpstr>PowerPoint Presentation</vt:lpstr>
      <vt:lpstr>Tableau vs Excel</vt:lpstr>
      <vt:lpstr>Purpose and Use Cases</vt:lpstr>
      <vt:lpstr>PowerPoint Presentation</vt:lpstr>
      <vt:lpstr>PowerPoint Presentation</vt:lpstr>
      <vt:lpstr>PowerPoint Presentation</vt:lpstr>
      <vt:lpstr>PowerPoint Presentation</vt:lpstr>
      <vt:lpstr>Tableau Desktop</vt:lpstr>
      <vt:lpstr>Tableau Public</vt:lpstr>
      <vt:lpstr>Data types in tableau </vt:lpstr>
      <vt:lpstr>PowerPoint Presentation</vt:lpstr>
      <vt:lpstr>PowerPoint Presentation</vt:lpstr>
      <vt:lpstr>Column formatting</vt:lpstr>
      <vt:lpstr>Understanding Drill-Down Hierarchy</vt:lpstr>
      <vt:lpstr>Ways of sorting in tableau charts</vt:lpstr>
      <vt:lpstr>PowerPoint Presentation</vt:lpstr>
      <vt:lpstr>PowerPoint Presentation</vt:lpstr>
      <vt:lpstr>Discrete vs. Continuous</vt:lpstr>
      <vt:lpstr>Discrete vs. Continuous</vt:lpstr>
      <vt:lpstr>Measures and Dimensions</vt:lpstr>
      <vt:lpstr>Measures and Dimensions </vt:lpstr>
      <vt:lpstr>Parameters and Sets </vt:lpstr>
      <vt:lpstr>PowerPoint Presentation</vt:lpstr>
      <vt:lpstr>Combined Fields:</vt:lpstr>
      <vt:lpstr>Title</vt:lpstr>
      <vt:lpstr>Caption</vt:lpstr>
      <vt:lpstr>Exporting options  </vt:lpstr>
      <vt:lpstr>Granularity</vt:lpstr>
      <vt:lpstr>Filters</vt:lpstr>
      <vt:lpstr>Charts</vt:lpstr>
      <vt:lpstr>Bar graph </vt:lpstr>
      <vt:lpstr>Line Chart</vt:lpstr>
      <vt:lpstr>Pie Chart</vt:lpstr>
      <vt:lpstr>Scatter Plot</vt:lpstr>
      <vt:lpstr>Area Chart</vt:lpstr>
      <vt:lpstr>Map</vt:lpstr>
      <vt:lpstr>Waterfall chart</vt:lpstr>
      <vt:lpstr>PowerPoint Presentation</vt:lpstr>
      <vt:lpstr>PowerPoint Presentation</vt:lpstr>
      <vt:lpstr>Funnel Chart</vt:lpstr>
      <vt:lpstr>Histogram</vt:lpstr>
      <vt:lpstr>Tree map</vt:lpstr>
      <vt:lpstr>PowerPoint Presentation</vt:lpstr>
      <vt:lpstr>PowerPoint Presentation</vt:lpstr>
      <vt:lpstr>Bubble Chart</vt:lpstr>
      <vt:lpstr>PowerPoint Presentation</vt:lpstr>
      <vt:lpstr>PowerPoint Presentation</vt:lpstr>
      <vt:lpstr>Word map (Word Cloud) </vt:lpstr>
      <vt:lpstr>PowerPoint Presentation</vt:lpstr>
      <vt:lpstr>Box Plot</vt:lpstr>
      <vt:lpstr>PowerPoint Presentation</vt:lpstr>
      <vt:lpstr>PowerPoint Presentation</vt:lpstr>
      <vt:lpstr>PowerPoint Presentation</vt:lpstr>
      <vt:lpstr>PowerPoint Presentation</vt:lpstr>
      <vt:lpstr>PowerPoint Presentation</vt:lpstr>
      <vt:lpstr>Actions</vt:lpstr>
      <vt:lpstr>Types of Actions in Tableau</vt:lpstr>
      <vt:lpstr>Highlight Actions:</vt:lpstr>
      <vt:lpstr>URL Actions:</vt:lpstr>
      <vt:lpstr>Go to Sheet Actions:</vt:lpstr>
      <vt:lpstr>Go to URL Actions:</vt:lpstr>
      <vt:lpstr>Dashboard in Tableau</vt:lpstr>
      <vt:lpstr>Components of a Dashboard:</vt:lpstr>
      <vt:lpstr>Conclusion</vt:lpstr>
      <vt:lpstr>Story Points in Tableau</vt:lpstr>
      <vt:lpstr>Components of a Story:</vt:lpstr>
      <vt:lpstr>Joins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dc:title>
  <dc:creator>USER</dc:creator>
  <cp:lastModifiedBy>u12</cp:lastModifiedBy>
  <cp:revision>101</cp:revision>
  <dcterms:created xsi:type="dcterms:W3CDTF">2024-06-02T09:06:50Z</dcterms:created>
  <dcterms:modified xsi:type="dcterms:W3CDTF">2025-01-02T12:29:30Z</dcterms:modified>
</cp:coreProperties>
</file>